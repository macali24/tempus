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 chose to solve is the last mile between having data and taking action. A rep covering a territory like Chicago may have hundreds of possible physicians, but useful information is split across CRM notes, market estimates, provider records, trial activity, and product evidence. Before a short meeting, the rep still has to determine who matters most, why the timing is relevant, and what can be said credibly. This is a sales-preparation problem, not a clinical recommendation or physician-quality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translated the brief into one rep workflow. First, the system prioritizes whom to call. Selecting a physician then reveals why the opportunity is timely, which panel appears most relevant for sales planning, and any concern from the simulated CRM. Finally, it prepares a short opener and objection response using cited product evidence. The rep can still see uncertainty and contested fields, so the tool accelerates judgment rather than hiding or replacing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process began by framing the rep’s decisions: identify, prioritize, explain, and prepare. I then ingested the three required formats, added public enrichment, resolved physician identities, and built a transparent score before adding generation. Claude Opus 5 supported development; React, TypeScript, and Vite power the prototype. At runtime, Gemini drafts structured claims and Llama through Groq can check semantic support. I chose them for free-tier access, speed, and provider independence, not because I ran a benchmark proving they were best. The four gates and deterministic fallback keep model authority narrow.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transparent formula because there was no historical outcome data with which to train a reliable predictive model. Opportunity estimates potential patient impact; panel fit connects that opportunity to a Tempus use case; identity and freshness reduce the risk of acting on the wrong or outdated record; engagement and trials represent timing. The exact weights are explicit v1 policy choices, not learned coefficients. The interface shows the raw signals and top weighted drivers, so a rep can understand why someone ranked highly.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refined the prototype through executable golden cases, adversarial CRM fixtures, missing-data behavior, pagination checks, and cross-source contradictions. The current individual suites pass 101 of 101 golden cases, all eight cross-model wiring assertions, and block both hostile CRM fixtures before any model call. Those results validate pipeline behavior, not commercial prediction or 100 percent model accuracy. The key assumptions remain simulated commercial data, heuristic weights, and incomplete public datasets. The next step is a controlled pilot with real Salesforce data and measures such as preparation time, rep usefulness, edits, and precision at the top of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B"/>
        </a:solidFill>
      </p:bgPr>
    </p:bg>
    <p:spTree>
      <p:nvGrpSpPr>
        <p:cNvPr id="1" name=""/>
        <p:cNvGrpSpPr/>
        <p:nvPr/>
      </p:nvGrpSpPr>
      <p:grpSpPr>
        <a:xfrm>
          <a:off x="0" y="0"/>
          <a:ext cx="0" cy="0"/>
          <a:chOff x="0" y="0"/>
          <a:chExt cx="0" cy="0"/>
        </a:xfrm>
      </p:grpSpPr>
      <p:pic>
        <p:nvPicPr>
          <p:cNvPr id="2" name="Image 0" descr="Chicago territory map with a 60-provider working set and ranked priority queue.">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6446520" y="594360"/>
            <a:ext cx="5074920" cy="5413248"/>
          </a:xfrm>
          <a:prstGeom prst="roundRect">
            <a:avLst>
              <a:gd name="adj" fmla="val 1441"/>
            </a:avLst>
          </a:prstGeom>
          <a:solidFill>
            <a:srgbClr val="FFFFFF">
              <a:alpha val="96000"/>
            </a:srgbClr>
          </a:solidFill>
          <a:ln w="12700">
            <a:solidFill>
              <a:srgbClr val="FFFFFF">
                <a:alpha val="0"/>
              </a:srgbClr>
            </a:solidFill>
            <a:prstDash val="solid"/>
          </a:ln>
          <a:effectLst>
            <a:outerShdw sx="100000" sy="100000" kx="0" ky="0" algn="bl" rotWithShape="0" blurRad="22860" dist="8890" dir="2700000">
              <a:srgbClr val="000000">
                <a:alpha val="12000"/>
              </a:srgbClr>
            </a:outerShdw>
          </a:effectLst>
        </p:spPr>
      </p:sp>
      <p:sp>
        <p:nvSpPr>
          <p:cNvPr id="4" name="Shape 1"/>
          <p:cNvSpPr/>
          <p:nvPr/>
        </p:nvSpPr>
        <p:spPr>
          <a:xfrm>
            <a:off x="6839712" y="987552"/>
            <a:ext cx="1572768" cy="301752"/>
          </a:xfrm>
          <a:prstGeom prst="roundRect">
            <a:avLst>
              <a:gd name="adj" fmla="val 24242"/>
            </a:avLst>
          </a:prstGeom>
          <a:solidFill>
            <a:srgbClr val="EEF1FF"/>
          </a:solidFill>
          <a:ln w="6350">
            <a:solidFill>
              <a:srgbClr val="EEF1FF"/>
            </a:solidFill>
            <a:prstDash val="solid"/>
          </a:ln>
        </p:spPr>
      </p:sp>
      <p:sp>
        <p:nvSpPr>
          <p:cNvPr id="5" name="Text 2"/>
          <p:cNvSpPr txBox="1"/>
          <p:nvPr/>
        </p:nvSpPr>
        <p:spPr>
          <a:xfrm>
            <a:off x="6931152" y="996696"/>
            <a:ext cx="1389888" cy="283464"/>
          </a:xfrm>
          <a:prstGeom prst="rect">
            <a:avLst/>
          </a:prstGeom>
          <a:noFill/>
          <a:ln/>
        </p:spPr>
        <p:txBody>
          <a:bodyPr wrap="square" lIns="0" tIns="0" rIns="0" bIns="0" rtlCol="0" anchor="ctr">
            <a:normAutofit/>
          </a:bodyPr>
          <a:lstStyle/>
          <a:p>
            <a:pPr algn="ctr" indent="0" marL="0">
              <a:buNone/>
            </a:pPr>
            <a:r>
              <a:rPr lang="en-US" sz="880" b="1" dirty="0">
                <a:solidFill>
                  <a:srgbClr val="3157F6"/>
                </a:solidFill>
                <a:latin typeface="Arial" pitchFamily="34" charset="0"/>
                <a:ea typeface="Arial" pitchFamily="34" charset="-122"/>
                <a:cs typeface="Arial" pitchFamily="34" charset="-120"/>
              </a:rPr>
              <a:t>CASE-STUDY PROTOTYPE</a:t>
            </a:r>
            <a:endParaRPr lang="en-US" sz="880" dirty="0"/>
          </a:p>
        </p:txBody>
      </p:sp>
      <p:sp>
        <p:nvSpPr>
          <p:cNvPr id="6" name="Text 3"/>
          <p:cNvSpPr txBox="1"/>
          <p:nvPr/>
        </p:nvSpPr>
        <p:spPr>
          <a:xfrm>
            <a:off x="6830568" y="1481328"/>
            <a:ext cx="4224528" cy="1673352"/>
          </a:xfrm>
          <a:prstGeom prst="rect">
            <a:avLst/>
          </a:prstGeom>
          <a:noFill/>
          <a:ln/>
        </p:spPr>
        <p:txBody>
          <a:bodyPr wrap="square" lIns="0" tIns="0" rIns="0" bIns="0" rtlCol="0" anchor="t">
            <a:normAutofit/>
          </a:bodyPr>
          <a:lstStyle/>
          <a:p>
            <a:pPr algn="l" indent="0" marL="0">
              <a:lnSpc>
                <a:spcPct val="90000"/>
              </a:lnSpc>
              <a:buNone/>
            </a:pPr>
            <a:r>
              <a:rPr lang="en-US" sz="2900" b="1" dirty="0">
                <a:solidFill>
                  <a:srgbClr val="111827"/>
                </a:solidFill>
                <a:latin typeface="Arial" pitchFamily="34" charset="0"/>
                <a:ea typeface="Arial" pitchFamily="34" charset="-122"/>
                <a:cs typeface="Arial" pitchFamily="34" charset="-120"/>
              </a:rPr>
              <a:t>From scattered signals</a:t>
            </a:r>
            <a:endParaRPr lang="en-US" sz="2900" dirty="0"/>
          </a:p>
          <a:p>
            <a:pPr algn="l" indent="0" marL="0">
              <a:lnSpc>
                <a:spcPct val="90000"/>
              </a:lnSpc>
              <a:buNone/>
            </a:pPr>
            <a:r>
              <a:rPr lang="en-US" sz="2900" b="1" dirty="0">
                <a:solidFill>
                  <a:srgbClr val="111827"/>
                </a:solidFill>
                <a:latin typeface="Arial" pitchFamily="34" charset="0"/>
                <a:ea typeface="Arial" pitchFamily="34" charset="-122"/>
                <a:cs typeface="Arial" pitchFamily="34" charset="-120"/>
              </a:rPr>
              <a:t>to the next best</a:t>
            </a:r>
            <a:endParaRPr lang="en-US" sz="2900" dirty="0"/>
          </a:p>
          <a:p>
            <a:pPr algn="l" indent="0" marL="0">
              <a:lnSpc>
                <a:spcPct val="90000"/>
              </a:lnSpc>
              <a:buNone/>
            </a:pPr>
            <a:r>
              <a:rPr lang="en-US" sz="2900" b="1" dirty="0">
                <a:solidFill>
                  <a:srgbClr val="111827"/>
                </a:solidFill>
                <a:latin typeface="Arial" pitchFamily="34" charset="0"/>
                <a:ea typeface="Arial" pitchFamily="34" charset="-122"/>
                <a:cs typeface="Arial" pitchFamily="34" charset="-120"/>
              </a:rPr>
              <a:t>conversation</a:t>
            </a:r>
            <a:endParaRPr lang="en-US" sz="2900" dirty="0"/>
          </a:p>
        </p:txBody>
      </p:sp>
      <p:sp>
        <p:nvSpPr>
          <p:cNvPr id="7" name="Text 4"/>
          <p:cNvSpPr txBox="1"/>
          <p:nvPr/>
        </p:nvSpPr>
        <p:spPr>
          <a:xfrm>
            <a:off x="6858000" y="3364992"/>
            <a:ext cx="4096512" cy="667512"/>
          </a:xfrm>
          <a:prstGeom prst="rect">
            <a:avLst/>
          </a:prstGeom>
          <a:noFill/>
          <a:ln/>
        </p:spPr>
        <p:txBody>
          <a:bodyPr wrap="square" lIns="0" tIns="0" rIns="0" bIns="0" rtlCol="0" anchor="t">
            <a:normAutofit/>
          </a:bodyPr>
          <a:lstStyle/>
          <a:p>
            <a:pPr algn="l" indent="0" marL="0">
              <a:buNone/>
            </a:pPr>
            <a:r>
              <a:rPr lang="en-US" sz="1500" dirty="0">
                <a:solidFill>
                  <a:srgbClr val="334155"/>
                </a:solidFill>
                <a:latin typeface="Arial" pitchFamily="34" charset="0"/>
                <a:ea typeface="Arial" pitchFamily="34" charset="-122"/>
                <a:cs typeface="Arial" pitchFamily="34" charset="-120"/>
              </a:rPr>
              <a:t>A verifier-first sales copilot for deciding who to call, why now, and what can be said credibly.</a:t>
            </a:r>
            <a:endParaRPr lang="en-US" sz="1500" dirty="0"/>
          </a:p>
        </p:txBody>
      </p:sp>
      <p:sp>
        <p:nvSpPr>
          <p:cNvPr id="8" name="Text 5"/>
          <p:cNvSpPr txBox="1"/>
          <p:nvPr/>
        </p:nvSpPr>
        <p:spPr>
          <a:xfrm>
            <a:off x="6839712" y="4315968"/>
            <a:ext cx="329184" cy="201168"/>
          </a:xfrm>
          <a:prstGeom prst="rect">
            <a:avLst/>
          </a:prstGeom>
          <a:noFill/>
          <a:ln/>
        </p:spPr>
        <p:txBody>
          <a:bodyPr wrap="square" lIns="0" tIns="0" rIns="0" bIns="0" rtlCol="0" anchor="t">
            <a:normAutofit/>
          </a:bodyPr>
          <a:lstStyle/>
          <a:p>
            <a:pPr algn="l" indent="0" marL="0">
              <a:buNone/>
            </a:pPr>
            <a:r>
              <a:rPr lang="en-US" sz="900" b="1" dirty="0">
                <a:solidFill>
                  <a:srgbClr val="3157F6"/>
                </a:solidFill>
                <a:latin typeface="Arial" pitchFamily="34" charset="0"/>
                <a:ea typeface="Arial" pitchFamily="34" charset="-122"/>
                <a:cs typeface="Arial" pitchFamily="34" charset="-120"/>
              </a:rPr>
              <a:t>01</a:t>
            </a:r>
            <a:endParaRPr lang="en-US" sz="900" dirty="0"/>
          </a:p>
        </p:txBody>
      </p:sp>
      <p:sp>
        <p:nvSpPr>
          <p:cNvPr id="9" name="Text 6"/>
          <p:cNvSpPr txBox="1"/>
          <p:nvPr/>
        </p:nvSpPr>
        <p:spPr>
          <a:xfrm>
            <a:off x="6839712" y="4581144"/>
            <a:ext cx="1298448" cy="228600"/>
          </a:xfrm>
          <a:prstGeom prst="rect">
            <a:avLst/>
          </a:prstGeom>
          <a:noFill/>
          <a:ln/>
        </p:spPr>
        <p:txBody>
          <a:bodyPr wrap="square" lIns="0" tIns="0" rIns="0" bIns="0" rtlCol="0" anchor="t">
            <a:normAutofit/>
          </a:bodyPr>
          <a:lstStyle/>
          <a:p>
            <a:pPr algn="l" indent="0" marL="0">
              <a:buNone/>
            </a:pPr>
            <a:r>
              <a:rPr lang="en-US" sz="930" b="1" dirty="0">
                <a:solidFill>
                  <a:srgbClr val="111827"/>
                </a:solidFill>
                <a:latin typeface="Arial" pitchFamily="34" charset="0"/>
                <a:ea typeface="Arial" pitchFamily="34" charset="-122"/>
                <a:cs typeface="Arial" pitchFamily="34" charset="-120"/>
              </a:rPr>
              <a:t>WHO TO CALL</a:t>
            </a:r>
            <a:endParaRPr lang="en-US" sz="930" dirty="0"/>
          </a:p>
        </p:txBody>
      </p:sp>
      <p:sp>
        <p:nvSpPr>
          <p:cNvPr id="10" name="Text 7"/>
          <p:cNvSpPr txBox="1"/>
          <p:nvPr/>
        </p:nvSpPr>
        <p:spPr>
          <a:xfrm>
            <a:off x="6839712" y="4846320"/>
            <a:ext cx="1298448" cy="310896"/>
          </a:xfrm>
          <a:prstGeom prst="rect">
            <a:avLst/>
          </a:prstGeom>
          <a:noFill/>
          <a:ln/>
        </p:spPr>
        <p:txBody>
          <a:bodyPr wrap="square" lIns="0" tIns="0" rIns="0" bIns="0" rtlCol="0" anchor="t">
            <a:normAutofit/>
          </a:bodyPr>
          <a:lstStyle/>
          <a:p>
            <a:pPr algn="l" indent="0" marL="0">
              <a:buNone/>
            </a:pPr>
            <a:r>
              <a:rPr lang="en-US" sz="950" dirty="0">
                <a:solidFill>
                  <a:srgbClr val="64748B"/>
                </a:solidFill>
                <a:latin typeface="Arial" pitchFamily="34" charset="0"/>
                <a:ea typeface="Arial" pitchFamily="34" charset="-122"/>
                <a:cs typeface="Arial" pitchFamily="34" charset="-120"/>
              </a:rPr>
              <a:t>Prioritize impact</a:t>
            </a:r>
            <a:endParaRPr lang="en-US" sz="950" dirty="0"/>
          </a:p>
        </p:txBody>
      </p:sp>
      <p:sp>
        <p:nvSpPr>
          <p:cNvPr id="11" name="Text 8"/>
          <p:cNvSpPr txBox="1"/>
          <p:nvPr/>
        </p:nvSpPr>
        <p:spPr>
          <a:xfrm>
            <a:off x="8284464" y="4315968"/>
            <a:ext cx="329184" cy="201168"/>
          </a:xfrm>
          <a:prstGeom prst="rect">
            <a:avLst/>
          </a:prstGeom>
          <a:noFill/>
          <a:ln/>
        </p:spPr>
        <p:txBody>
          <a:bodyPr wrap="square" lIns="0" tIns="0" rIns="0" bIns="0" rtlCol="0" anchor="t">
            <a:normAutofit/>
          </a:bodyPr>
          <a:lstStyle/>
          <a:p>
            <a:pPr algn="l" indent="0" marL="0">
              <a:buNone/>
            </a:pPr>
            <a:r>
              <a:rPr lang="en-US" sz="900" b="1" dirty="0">
                <a:solidFill>
                  <a:srgbClr val="3157F6"/>
                </a:solidFill>
                <a:latin typeface="Arial" pitchFamily="34" charset="0"/>
                <a:ea typeface="Arial" pitchFamily="34" charset="-122"/>
                <a:cs typeface="Arial" pitchFamily="34" charset="-120"/>
              </a:rPr>
              <a:t>02</a:t>
            </a:r>
            <a:endParaRPr lang="en-US" sz="900" dirty="0"/>
          </a:p>
        </p:txBody>
      </p:sp>
      <p:sp>
        <p:nvSpPr>
          <p:cNvPr id="12" name="Text 9"/>
          <p:cNvSpPr txBox="1"/>
          <p:nvPr/>
        </p:nvSpPr>
        <p:spPr>
          <a:xfrm>
            <a:off x="8284464" y="4581144"/>
            <a:ext cx="1298448" cy="228600"/>
          </a:xfrm>
          <a:prstGeom prst="rect">
            <a:avLst/>
          </a:prstGeom>
          <a:noFill/>
          <a:ln/>
        </p:spPr>
        <p:txBody>
          <a:bodyPr wrap="square" lIns="0" tIns="0" rIns="0" bIns="0" rtlCol="0" anchor="t">
            <a:normAutofit/>
          </a:bodyPr>
          <a:lstStyle/>
          <a:p>
            <a:pPr algn="l" indent="0" marL="0">
              <a:buNone/>
            </a:pPr>
            <a:r>
              <a:rPr lang="en-US" sz="930" b="1" dirty="0">
                <a:solidFill>
                  <a:srgbClr val="111827"/>
                </a:solidFill>
                <a:latin typeface="Arial" pitchFamily="34" charset="0"/>
                <a:ea typeface="Arial" pitchFamily="34" charset="-122"/>
                <a:cs typeface="Arial" pitchFamily="34" charset="-120"/>
              </a:rPr>
              <a:t>WHY NOW</a:t>
            </a:r>
            <a:endParaRPr lang="en-US" sz="930" dirty="0"/>
          </a:p>
        </p:txBody>
      </p:sp>
      <p:sp>
        <p:nvSpPr>
          <p:cNvPr id="13" name="Text 10"/>
          <p:cNvSpPr txBox="1"/>
          <p:nvPr/>
        </p:nvSpPr>
        <p:spPr>
          <a:xfrm>
            <a:off x="8284464" y="4846320"/>
            <a:ext cx="1298448" cy="310896"/>
          </a:xfrm>
          <a:prstGeom prst="rect">
            <a:avLst/>
          </a:prstGeom>
          <a:noFill/>
          <a:ln/>
        </p:spPr>
        <p:txBody>
          <a:bodyPr wrap="square" lIns="0" tIns="0" rIns="0" bIns="0" rtlCol="0" anchor="t">
            <a:normAutofit/>
          </a:bodyPr>
          <a:lstStyle/>
          <a:p>
            <a:pPr algn="l" indent="0" marL="0">
              <a:buNone/>
            </a:pPr>
            <a:r>
              <a:rPr lang="en-US" sz="950" dirty="0">
                <a:solidFill>
                  <a:srgbClr val="64748B"/>
                </a:solidFill>
                <a:latin typeface="Arial" pitchFamily="34" charset="0"/>
                <a:ea typeface="Arial" pitchFamily="34" charset="-122"/>
                <a:cs typeface="Arial" pitchFamily="34" charset="-120"/>
              </a:rPr>
              <a:t>Surface dated signals</a:t>
            </a:r>
            <a:endParaRPr lang="en-US" sz="950" dirty="0"/>
          </a:p>
        </p:txBody>
      </p:sp>
      <p:sp>
        <p:nvSpPr>
          <p:cNvPr id="14" name="Text 11"/>
          <p:cNvSpPr txBox="1"/>
          <p:nvPr/>
        </p:nvSpPr>
        <p:spPr>
          <a:xfrm>
            <a:off x="9729216" y="4315968"/>
            <a:ext cx="329184" cy="201168"/>
          </a:xfrm>
          <a:prstGeom prst="rect">
            <a:avLst/>
          </a:prstGeom>
          <a:noFill/>
          <a:ln/>
        </p:spPr>
        <p:txBody>
          <a:bodyPr wrap="square" lIns="0" tIns="0" rIns="0" bIns="0" rtlCol="0" anchor="t">
            <a:normAutofit/>
          </a:bodyPr>
          <a:lstStyle/>
          <a:p>
            <a:pPr algn="l" indent="0" marL="0">
              <a:buNone/>
            </a:pPr>
            <a:r>
              <a:rPr lang="en-US" sz="900" b="1" dirty="0">
                <a:solidFill>
                  <a:srgbClr val="3157F6"/>
                </a:solidFill>
                <a:latin typeface="Arial" pitchFamily="34" charset="0"/>
                <a:ea typeface="Arial" pitchFamily="34" charset="-122"/>
                <a:cs typeface="Arial" pitchFamily="34" charset="-120"/>
              </a:rPr>
              <a:t>03</a:t>
            </a:r>
            <a:endParaRPr lang="en-US" sz="900" dirty="0"/>
          </a:p>
        </p:txBody>
      </p:sp>
      <p:sp>
        <p:nvSpPr>
          <p:cNvPr id="15" name="Text 12"/>
          <p:cNvSpPr txBox="1"/>
          <p:nvPr/>
        </p:nvSpPr>
        <p:spPr>
          <a:xfrm>
            <a:off x="9729216" y="4581144"/>
            <a:ext cx="1298448" cy="228600"/>
          </a:xfrm>
          <a:prstGeom prst="rect">
            <a:avLst/>
          </a:prstGeom>
          <a:noFill/>
          <a:ln/>
        </p:spPr>
        <p:txBody>
          <a:bodyPr wrap="square" lIns="0" tIns="0" rIns="0" bIns="0" rtlCol="0" anchor="t">
            <a:normAutofit/>
          </a:bodyPr>
          <a:lstStyle/>
          <a:p>
            <a:pPr algn="l" indent="0" marL="0">
              <a:buNone/>
            </a:pPr>
            <a:r>
              <a:rPr lang="en-US" sz="930" b="1" dirty="0">
                <a:solidFill>
                  <a:srgbClr val="111827"/>
                </a:solidFill>
                <a:latin typeface="Arial" pitchFamily="34" charset="0"/>
                <a:ea typeface="Arial" pitchFamily="34" charset="-122"/>
                <a:cs typeface="Arial" pitchFamily="34" charset="-120"/>
              </a:rPr>
              <a:t>WHAT TO SAY</a:t>
            </a:r>
            <a:endParaRPr lang="en-US" sz="930" dirty="0"/>
          </a:p>
        </p:txBody>
      </p:sp>
      <p:sp>
        <p:nvSpPr>
          <p:cNvPr id="16" name="Text 13"/>
          <p:cNvSpPr txBox="1"/>
          <p:nvPr/>
        </p:nvSpPr>
        <p:spPr>
          <a:xfrm>
            <a:off x="9729216" y="4846320"/>
            <a:ext cx="1298448" cy="310896"/>
          </a:xfrm>
          <a:prstGeom prst="rect">
            <a:avLst/>
          </a:prstGeom>
          <a:noFill/>
          <a:ln/>
        </p:spPr>
        <p:txBody>
          <a:bodyPr wrap="square" lIns="0" tIns="0" rIns="0" bIns="0" rtlCol="0" anchor="t">
            <a:normAutofit/>
          </a:bodyPr>
          <a:lstStyle/>
          <a:p>
            <a:pPr algn="l" indent="0" marL="0">
              <a:buNone/>
            </a:pPr>
            <a:r>
              <a:rPr lang="en-US" sz="950" dirty="0">
                <a:solidFill>
                  <a:srgbClr val="64748B"/>
                </a:solidFill>
                <a:latin typeface="Arial" pitchFamily="34" charset="0"/>
                <a:ea typeface="Arial" pitchFamily="34" charset="-122"/>
                <a:cs typeface="Arial" pitchFamily="34" charset="-120"/>
              </a:rPr>
              <a:t>Prepare grounded copy</a:t>
            </a:r>
            <a:endParaRPr lang="en-US" sz="950" dirty="0"/>
          </a:p>
        </p:txBody>
      </p:sp>
      <p:sp>
        <p:nvSpPr>
          <p:cNvPr id="17" name="Text 14"/>
          <p:cNvSpPr txBox="1"/>
          <p:nvPr/>
        </p:nvSpPr>
        <p:spPr>
          <a:xfrm>
            <a:off x="6858000" y="5513832"/>
            <a:ext cx="4251960" cy="246888"/>
          </a:xfrm>
          <a:prstGeom prst="rect">
            <a:avLst/>
          </a:prstGeom>
          <a:noFill/>
          <a:ln/>
        </p:spPr>
        <p:txBody>
          <a:bodyPr wrap="square" lIns="0" tIns="0" rIns="0" bIns="0" rtlCol="0" anchor="t">
            <a:normAutofit/>
          </a:bodyPr>
          <a:lstStyle/>
          <a:p>
            <a:pPr algn="l" indent="0" marL="0">
              <a:buNone/>
            </a:pPr>
            <a:r>
              <a:rPr lang="en-US" sz="860" i="1" dirty="0">
                <a:solidFill>
                  <a:srgbClr val="64748B"/>
                </a:solidFill>
                <a:latin typeface="Arial" pitchFamily="34" charset="0"/>
                <a:ea typeface="Arial" pitchFamily="34" charset="-122"/>
                <a:cs typeface="Arial" pitchFamily="34" charset="-120"/>
              </a:rPr>
              <a:t>Scope: sales preparation, not clinical decision support or physician-quality scoring.</a:t>
            </a:r>
            <a:endParaRPr lang="en-US" sz="860" dirty="0"/>
          </a:p>
        </p:txBody>
      </p:sp>
      <p:sp>
        <p:nvSpPr>
          <p:cNvPr id="18" name="Text 15"/>
          <p:cNvSpPr txBox="1"/>
          <p:nvPr/>
        </p:nvSpPr>
        <p:spPr>
          <a:xfrm>
            <a:off x="502920" y="6510528"/>
            <a:ext cx="6583680" cy="164592"/>
          </a:xfrm>
          <a:prstGeom prst="rect">
            <a:avLst/>
          </a:prstGeom>
          <a:noFill/>
          <a:ln/>
        </p:spPr>
        <p:txBody>
          <a:bodyPr wrap="square" lIns="0" tIns="0" rIns="0" bIns="0" rtlCol="0" anchor="t">
            <a:normAutofit/>
          </a:bodyPr>
          <a:lstStyle/>
          <a:p>
            <a:pPr algn="l" indent="0" marL="0">
              <a:buNone/>
            </a:pPr>
            <a:r>
              <a:rPr lang="en-US" sz="760" b="1" dirty="0">
                <a:solidFill>
                  <a:srgbClr val="334155"/>
                </a:solidFill>
                <a:latin typeface="Arial" pitchFamily="34" charset="0"/>
                <a:ea typeface="Arial" pitchFamily="34" charset="-122"/>
                <a:cs typeface="Arial" pitchFamily="34" charset="-120"/>
              </a:rPr>
              <a:t>Composite demo · 60-provider working set · simulated commercial inputs</a:t>
            </a:r>
            <a:endParaRPr lang="en-US" sz="760" dirty="0"/>
          </a:p>
        </p:txBody>
      </p:sp>
      <p:sp>
        <p:nvSpPr>
          <p:cNvPr id="19" name="Text 16"/>
          <p:cNvSpPr txBox="1"/>
          <p:nvPr/>
        </p:nvSpPr>
        <p:spPr>
          <a:xfrm>
            <a:off x="11155680" y="6492240"/>
            <a:ext cx="457200" cy="182880"/>
          </a:xfrm>
          <a:prstGeom prst="rect">
            <a:avLst/>
          </a:prstGeom>
          <a:noFill/>
          <a:ln/>
        </p:spPr>
        <p:txBody>
          <a:bodyPr wrap="square" lIns="0" tIns="0" rIns="0" bIns="0" rtlCol="0" anchor="t">
            <a:normAutofit/>
          </a:bodyPr>
          <a:lstStyle/>
          <a:p>
            <a:pPr algn="r" indent="0" marL="0">
              <a:buNone/>
            </a:pPr>
            <a:r>
              <a:rPr lang="en-US" sz="850" b="1" dirty="0">
                <a:solidFill>
                  <a:srgbClr val="334155"/>
                </a:solidFill>
                <a:latin typeface="Arial" pitchFamily="34" charset="0"/>
                <a:ea typeface="Arial" pitchFamily="34" charset="-122"/>
                <a:cs typeface="Arial"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txBox="1"/>
          <p:nvPr/>
        </p:nvSpPr>
        <p:spPr>
          <a:xfrm>
            <a:off x="621792" y="301752"/>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3157F6"/>
                </a:solidFill>
                <a:latin typeface="Arial" pitchFamily="34" charset="0"/>
                <a:ea typeface="Arial" pitchFamily="34" charset="-122"/>
                <a:cs typeface="Arial" pitchFamily="34" charset="-120"/>
              </a:rPr>
              <a:t>TEMPUS SALES COPILOT · CASE STUDY</a:t>
            </a:r>
            <a:endParaRPr lang="en-US" sz="950" dirty="0"/>
          </a:p>
        </p:txBody>
      </p:sp>
      <p:sp>
        <p:nvSpPr>
          <p:cNvPr id="3" name="Text 1"/>
          <p:cNvSpPr txBox="1"/>
          <p:nvPr/>
        </p:nvSpPr>
        <p:spPr>
          <a:xfrm>
            <a:off x="621792" y="566928"/>
            <a:ext cx="4617720" cy="502920"/>
          </a:xfrm>
          <a:prstGeom prst="rect">
            <a:avLst/>
          </a:prstGeom>
          <a:noFill/>
          <a:ln/>
        </p:spPr>
        <p:txBody>
          <a:bodyPr wrap="square" lIns="0" tIns="0" rIns="0" bIns="0" rtlCol="0" anchor="t">
            <a:normAutofit/>
          </a:bodyPr>
          <a:lstStyle/>
          <a:p>
            <a:pPr algn="l" indent="0" marL="0">
              <a:buNone/>
            </a:pPr>
            <a:r>
              <a:rPr lang="en-US" sz="2700" b="1" dirty="0">
                <a:solidFill>
                  <a:srgbClr val="111827"/>
                </a:solidFill>
                <a:latin typeface="Arial" pitchFamily="34" charset="0"/>
                <a:ea typeface="Arial" pitchFamily="34" charset="-122"/>
                <a:cs typeface="Arial" pitchFamily="34" charset="-120"/>
              </a:rPr>
              <a:t>One workflow. Three answers.</a:t>
            </a:r>
            <a:endParaRPr lang="en-US" sz="2700" dirty="0"/>
          </a:p>
        </p:txBody>
      </p:sp>
      <p:sp>
        <p:nvSpPr>
          <p:cNvPr id="4" name="Text 2"/>
          <p:cNvSpPr txBox="1"/>
          <p:nvPr/>
        </p:nvSpPr>
        <p:spPr>
          <a:xfrm>
            <a:off x="621792" y="1060704"/>
            <a:ext cx="4617720" cy="329184"/>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rial" pitchFamily="34" charset="0"/>
                <a:ea typeface="Arial" pitchFamily="34" charset="-122"/>
                <a:cs typeface="Arial" pitchFamily="34" charset="-120"/>
              </a:rPr>
              <a:t>The copilot converts a territory into a call-ready, evidence-backed conversation.</a:t>
            </a:r>
            <a:endParaRPr lang="en-US" sz="1350" dirty="0"/>
          </a:p>
        </p:txBody>
      </p:sp>
      <p:sp>
        <p:nvSpPr>
          <p:cNvPr id="5" name="Shape 3"/>
          <p:cNvSpPr/>
          <p:nvPr/>
        </p:nvSpPr>
        <p:spPr>
          <a:xfrm>
            <a:off x="658368" y="1618488"/>
            <a:ext cx="347472" cy="347472"/>
          </a:xfrm>
          <a:prstGeom prst="ellipse">
            <a:avLst/>
          </a:prstGeom>
          <a:solidFill>
            <a:srgbClr val="3157F6"/>
          </a:solidFill>
          <a:ln w="12700">
            <a:solidFill>
              <a:srgbClr val="3157F6"/>
            </a:solidFill>
            <a:prstDash val="solid"/>
          </a:ln>
        </p:spPr>
      </p:sp>
      <p:sp>
        <p:nvSpPr>
          <p:cNvPr id="6" name="Text 4"/>
          <p:cNvSpPr txBox="1"/>
          <p:nvPr/>
        </p:nvSpPr>
        <p:spPr>
          <a:xfrm>
            <a:off x="658368" y="1627632"/>
            <a:ext cx="347472"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7" name="Text 5"/>
          <p:cNvSpPr txBox="1"/>
          <p:nvPr/>
        </p:nvSpPr>
        <p:spPr>
          <a:xfrm>
            <a:off x="1161288" y="1609344"/>
            <a:ext cx="3931920" cy="219456"/>
          </a:xfrm>
          <a:prstGeom prst="rect">
            <a:avLst/>
          </a:prstGeom>
          <a:noFill/>
          <a:ln/>
        </p:spPr>
        <p:txBody>
          <a:bodyPr wrap="square" lIns="0" tIns="0" rIns="0" bIns="0" rtlCol="0" anchor="t">
            <a:normAutofit/>
          </a:bodyPr>
          <a:lstStyle/>
          <a:p>
            <a:pPr algn="l" indent="0" marL="0">
              <a:buNone/>
            </a:pPr>
            <a:r>
              <a:rPr lang="en-US" sz="1020" b="1" spc="110" kern="0" dirty="0">
                <a:solidFill>
                  <a:srgbClr val="3157F6"/>
                </a:solidFill>
                <a:latin typeface="Arial" pitchFamily="34" charset="0"/>
                <a:ea typeface="Arial" pitchFamily="34" charset="-122"/>
                <a:cs typeface="Arial" pitchFamily="34" charset="-120"/>
              </a:rPr>
              <a:t>PRIORITIZE</a:t>
            </a:r>
            <a:endParaRPr lang="en-US" sz="1020" dirty="0"/>
          </a:p>
        </p:txBody>
      </p:sp>
      <p:sp>
        <p:nvSpPr>
          <p:cNvPr id="8" name="Text 6"/>
          <p:cNvSpPr txBox="1"/>
          <p:nvPr/>
        </p:nvSpPr>
        <p:spPr>
          <a:xfrm>
            <a:off x="1161288" y="1847088"/>
            <a:ext cx="3931920" cy="484632"/>
          </a:xfrm>
          <a:prstGeom prst="rect">
            <a:avLst/>
          </a:prstGeom>
          <a:noFill/>
          <a:ln/>
        </p:spPr>
        <p:txBody>
          <a:bodyPr wrap="square" lIns="0" tIns="0" rIns="0" bIns="0" rtlCol="0" anchor="t">
            <a:normAutofit/>
          </a:bodyPr>
          <a:lstStyle/>
          <a:p>
            <a:pPr algn="l" indent="0" marL="0">
              <a:buNone/>
            </a:pPr>
            <a:r>
              <a:rPr lang="en-US" sz="1420" dirty="0">
                <a:solidFill>
                  <a:srgbClr val="334155"/>
                </a:solidFill>
                <a:latin typeface="Arial" pitchFamily="34" charset="0"/>
                <a:ea typeface="Arial" pitchFamily="34" charset="-122"/>
                <a:cs typeface="Arial" pitchFamily="34" charset="-120"/>
              </a:rPr>
              <a:t>Rank providers and accounts by potential impact and evidence confidence.</a:t>
            </a:r>
            <a:endParaRPr lang="en-US" sz="1420" dirty="0"/>
          </a:p>
        </p:txBody>
      </p:sp>
      <p:sp>
        <p:nvSpPr>
          <p:cNvPr id="9" name="Shape 7"/>
          <p:cNvSpPr/>
          <p:nvPr/>
        </p:nvSpPr>
        <p:spPr>
          <a:xfrm>
            <a:off x="658368" y="2606040"/>
            <a:ext cx="347472" cy="347472"/>
          </a:xfrm>
          <a:prstGeom prst="ellipse">
            <a:avLst/>
          </a:prstGeom>
          <a:solidFill>
            <a:srgbClr val="14846F"/>
          </a:solidFill>
          <a:ln w="12700">
            <a:solidFill>
              <a:srgbClr val="14846F"/>
            </a:solidFill>
            <a:prstDash val="solid"/>
          </a:ln>
        </p:spPr>
      </p:sp>
      <p:sp>
        <p:nvSpPr>
          <p:cNvPr id="10" name="Text 8"/>
          <p:cNvSpPr txBox="1"/>
          <p:nvPr/>
        </p:nvSpPr>
        <p:spPr>
          <a:xfrm>
            <a:off x="658368" y="2615184"/>
            <a:ext cx="347472"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11" name="Text 9"/>
          <p:cNvSpPr txBox="1"/>
          <p:nvPr/>
        </p:nvSpPr>
        <p:spPr>
          <a:xfrm>
            <a:off x="1161288" y="2596896"/>
            <a:ext cx="3931920" cy="219456"/>
          </a:xfrm>
          <a:prstGeom prst="rect">
            <a:avLst/>
          </a:prstGeom>
          <a:noFill/>
          <a:ln/>
        </p:spPr>
        <p:txBody>
          <a:bodyPr wrap="square" lIns="0" tIns="0" rIns="0" bIns="0" rtlCol="0" anchor="t">
            <a:normAutofit/>
          </a:bodyPr>
          <a:lstStyle/>
          <a:p>
            <a:pPr algn="l" indent="0" marL="0">
              <a:buNone/>
            </a:pPr>
            <a:r>
              <a:rPr lang="en-US" sz="1020" b="1" spc="110" kern="0" dirty="0">
                <a:solidFill>
                  <a:srgbClr val="14846F"/>
                </a:solidFill>
                <a:latin typeface="Arial" pitchFamily="34" charset="0"/>
                <a:ea typeface="Arial" pitchFamily="34" charset="-122"/>
                <a:cs typeface="Arial" pitchFamily="34" charset="-120"/>
              </a:rPr>
              <a:t>EXPLAIN</a:t>
            </a:r>
            <a:endParaRPr lang="en-US" sz="1020" dirty="0"/>
          </a:p>
        </p:txBody>
      </p:sp>
      <p:sp>
        <p:nvSpPr>
          <p:cNvPr id="12" name="Text 10"/>
          <p:cNvSpPr txBox="1"/>
          <p:nvPr/>
        </p:nvSpPr>
        <p:spPr>
          <a:xfrm>
            <a:off x="1161288" y="2834640"/>
            <a:ext cx="3931920" cy="484632"/>
          </a:xfrm>
          <a:prstGeom prst="rect">
            <a:avLst/>
          </a:prstGeom>
          <a:noFill/>
          <a:ln/>
        </p:spPr>
        <p:txBody>
          <a:bodyPr wrap="square" lIns="0" tIns="0" rIns="0" bIns="0" rtlCol="0" anchor="t">
            <a:normAutofit/>
          </a:bodyPr>
          <a:lstStyle/>
          <a:p>
            <a:pPr algn="l" indent="0" marL="0">
              <a:buNone/>
            </a:pPr>
            <a:r>
              <a:rPr lang="en-US" sz="1420" dirty="0">
                <a:solidFill>
                  <a:srgbClr val="334155"/>
                </a:solidFill>
                <a:latin typeface="Arial" pitchFamily="34" charset="0"/>
                <a:ea typeface="Arial" pitchFamily="34" charset="-122"/>
                <a:cs typeface="Arial" pitchFamily="34" charset="-120"/>
              </a:rPr>
              <a:t>Show why now, panel fit, and any identity field that needs verification.</a:t>
            </a:r>
            <a:endParaRPr lang="en-US" sz="1420" dirty="0"/>
          </a:p>
        </p:txBody>
      </p:sp>
      <p:sp>
        <p:nvSpPr>
          <p:cNvPr id="13" name="Shape 11"/>
          <p:cNvSpPr/>
          <p:nvPr/>
        </p:nvSpPr>
        <p:spPr>
          <a:xfrm>
            <a:off x="658368" y="3593592"/>
            <a:ext cx="347472" cy="347472"/>
          </a:xfrm>
          <a:prstGeom prst="ellipse">
            <a:avLst/>
          </a:prstGeom>
          <a:solidFill>
            <a:srgbClr val="A86B00"/>
          </a:solidFill>
          <a:ln w="12700">
            <a:solidFill>
              <a:srgbClr val="A86B00"/>
            </a:solidFill>
            <a:prstDash val="solid"/>
          </a:ln>
        </p:spPr>
      </p:sp>
      <p:sp>
        <p:nvSpPr>
          <p:cNvPr id="14" name="Text 12"/>
          <p:cNvSpPr txBox="1"/>
          <p:nvPr/>
        </p:nvSpPr>
        <p:spPr>
          <a:xfrm>
            <a:off x="658368" y="3602736"/>
            <a:ext cx="347472" cy="310896"/>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15" name="Text 13"/>
          <p:cNvSpPr txBox="1"/>
          <p:nvPr/>
        </p:nvSpPr>
        <p:spPr>
          <a:xfrm>
            <a:off x="1161288" y="3584448"/>
            <a:ext cx="3931920" cy="219456"/>
          </a:xfrm>
          <a:prstGeom prst="rect">
            <a:avLst/>
          </a:prstGeom>
          <a:noFill/>
          <a:ln/>
        </p:spPr>
        <p:txBody>
          <a:bodyPr wrap="square" lIns="0" tIns="0" rIns="0" bIns="0" rtlCol="0" anchor="t">
            <a:normAutofit/>
          </a:bodyPr>
          <a:lstStyle/>
          <a:p>
            <a:pPr algn="l" indent="0" marL="0">
              <a:buNone/>
            </a:pPr>
            <a:r>
              <a:rPr lang="en-US" sz="1020" b="1" spc="110" kern="0" dirty="0">
                <a:solidFill>
                  <a:srgbClr val="A86B00"/>
                </a:solidFill>
                <a:latin typeface="Arial" pitchFamily="34" charset="0"/>
                <a:ea typeface="Arial" pitchFamily="34" charset="-122"/>
                <a:cs typeface="Arial" pitchFamily="34" charset="-120"/>
              </a:rPr>
              <a:t>PREPARE</a:t>
            </a:r>
            <a:endParaRPr lang="en-US" sz="1020" dirty="0"/>
          </a:p>
        </p:txBody>
      </p:sp>
      <p:sp>
        <p:nvSpPr>
          <p:cNvPr id="16" name="Text 14"/>
          <p:cNvSpPr txBox="1"/>
          <p:nvPr/>
        </p:nvSpPr>
        <p:spPr>
          <a:xfrm>
            <a:off x="1161288" y="3822192"/>
            <a:ext cx="3931920" cy="484632"/>
          </a:xfrm>
          <a:prstGeom prst="rect">
            <a:avLst/>
          </a:prstGeom>
          <a:noFill/>
          <a:ln/>
        </p:spPr>
        <p:txBody>
          <a:bodyPr wrap="square" lIns="0" tIns="0" rIns="0" bIns="0" rtlCol="0" anchor="t">
            <a:normAutofit/>
          </a:bodyPr>
          <a:lstStyle/>
          <a:p>
            <a:pPr algn="l" indent="0" marL="0">
              <a:buNone/>
            </a:pPr>
            <a:r>
              <a:rPr lang="en-US" sz="1420" dirty="0">
                <a:solidFill>
                  <a:srgbClr val="334155"/>
                </a:solidFill>
                <a:latin typeface="Arial" pitchFamily="34" charset="0"/>
                <a:ea typeface="Arial" pitchFamily="34" charset="-122"/>
                <a:cs typeface="Arial" pitchFamily="34" charset="-120"/>
              </a:rPr>
              <a:t>Draft a 30-second opener and response to the known concern.</a:t>
            </a:r>
            <a:endParaRPr lang="en-US" sz="1420" dirty="0"/>
          </a:p>
        </p:txBody>
      </p:sp>
      <p:sp>
        <p:nvSpPr>
          <p:cNvPr id="17" name="Shape 15"/>
          <p:cNvSpPr/>
          <p:nvPr/>
        </p:nvSpPr>
        <p:spPr>
          <a:xfrm>
            <a:off x="658368" y="4782312"/>
            <a:ext cx="4361688" cy="1005840"/>
          </a:xfrm>
          <a:prstGeom prst="roundRect">
            <a:avLst>
              <a:gd name="adj" fmla="val 7273"/>
            </a:avLst>
          </a:prstGeom>
          <a:solidFill>
            <a:srgbClr val="FFF5DE"/>
          </a:solidFill>
          <a:ln w="8890">
            <a:solidFill>
              <a:srgbClr val="F0D79B"/>
            </a:solidFill>
            <a:prstDash val="solid"/>
          </a:ln>
        </p:spPr>
      </p:sp>
      <p:sp>
        <p:nvSpPr>
          <p:cNvPr id="18" name="Shape 16"/>
          <p:cNvSpPr/>
          <p:nvPr/>
        </p:nvSpPr>
        <p:spPr>
          <a:xfrm>
            <a:off x="841248" y="5010912"/>
            <a:ext cx="749808" cy="265176"/>
          </a:xfrm>
          <a:prstGeom prst="roundRect">
            <a:avLst>
              <a:gd name="adj" fmla="val 27586"/>
            </a:avLst>
          </a:prstGeom>
          <a:solidFill>
            <a:srgbClr val="A86B00"/>
          </a:solidFill>
          <a:ln w="6350">
            <a:solidFill>
              <a:srgbClr val="A86B00"/>
            </a:solidFill>
            <a:prstDash val="solid"/>
          </a:ln>
        </p:spPr>
      </p:sp>
      <p:sp>
        <p:nvSpPr>
          <p:cNvPr id="19" name="Text 17"/>
          <p:cNvSpPr txBox="1"/>
          <p:nvPr/>
        </p:nvSpPr>
        <p:spPr>
          <a:xfrm>
            <a:off x="932688" y="5020056"/>
            <a:ext cx="566928" cy="246888"/>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rial" pitchFamily="34" charset="0"/>
                <a:ea typeface="Arial" pitchFamily="34" charset="-122"/>
                <a:cs typeface="Arial" pitchFamily="34" charset="-120"/>
              </a:rPr>
              <a:t>VERIFY</a:t>
            </a:r>
            <a:endParaRPr lang="en-US" sz="840" dirty="0"/>
          </a:p>
        </p:txBody>
      </p:sp>
      <p:sp>
        <p:nvSpPr>
          <p:cNvPr id="20" name="Text 18"/>
          <p:cNvSpPr txBox="1"/>
          <p:nvPr/>
        </p:nvSpPr>
        <p:spPr>
          <a:xfrm>
            <a:off x="1755648" y="4928616"/>
            <a:ext cx="2971800" cy="530352"/>
          </a:xfrm>
          <a:prstGeom prst="rect">
            <a:avLst/>
          </a:prstGeom>
          <a:noFill/>
          <a:ln/>
        </p:spPr>
        <p:txBody>
          <a:bodyPr wrap="square" lIns="0" tIns="0" rIns="0" bIns="0" rtlCol="0" anchor="t">
            <a:normAutofit/>
          </a:bodyPr>
          <a:lstStyle/>
          <a:p>
            <a:pPr algn="l" indent="0" marL="0">
              <a:buNone/>
            </a:pPr>
            <a:r>
              <a:rPr lang="en-US" sz="1120" dirty="0">
                <a:solidFill>
                  <a:srgbClr val="6F4A05"/>
                </a:solidFill>
                <a:latin typeface="Arial" pitchFamily="34" charset="0"/>
                <a:ea typeface="Arial" pitchFamily="34" charset="-122"/>
                <a:cs typeface="Arial" pitchFamily="34" charset="-120"/>
              </a:rPr>
              <a:t>Uncertainty remains visible before outreach; the tool accelerates judgment rather than replacing it.</a:t>
            </a:r>
            <a:endParaRPr lang="en-US" sz="1120" dirty="0"/>
          </a:p>
        </p:txBody>
      </p:sp>
      <p:sp>
        <p:nvSpPr>
          <p:cNvPr id="21" name="Shape 19"/>
          <p:cNvSpPr/>
          <p:nvPr/>
        </p:nvSpPr>
        <p:spPr>
          <a:xfrm>
            <a:off x="5495544" y="1078992"/>
            <a:ext cx="6126480" cy="5413248"/>
          </a:xfrm>
          <a:prstGeom prst="roundRect">
            <a:avLst>
              <a:gd name="adj" fmla="val 1351"/>
            </a:avLst>
          </a:prstGeom>
          <a:solidFill>
            <a:srgbClr val="FFFFFF"/>
          </a:solidFill>
          <a:ln w="8890">
            <a:solidFill>
              <a:srgbClr val="DCE3ED"/>
            </a:solidFill>
            <a:prstDash val="solid"/>
          </a:ln>
          <a:effectLst>
            <a:outerShdw sx="100000" sy="100000" kx="0" ky="0" algn="bl" rotWithShape="0" blurRad="15240" dist="6350" dir="2700000">
              <a:srgbClr val="000000">
                <a:alpha val="8000"/>
              </a:srgbClr>
            </a:outerShdw>
          </a:effectLst>
        </p:spPr>
      </p:sp>
      <p:pic>
        <p:nvPicPr>
          <p:cNvPr id="22" name="Image 0" descr="Provider dossier showing priority, why-now signals, a 30-second opener, and a simulated objection.">    </p:cNvPr>
          <p:cNvPicPr>
            <a:picLocks noChangeAspect="1"/>
          </p:cNvPicPr>
          <p:nvPr/>
        </p:nvPicPr>
        <p:blipFill>
          <a:blip r:embed="rId1"/>
          <a:srcRect l="0" r="0" t="0" b="0"/>
          <a:stretch/>
        </p:blipFill>
        <p:spPr>
          <a:xfrm>
            <a:off x="5532120" y="1115568"/>
            <a:ext cx="6053328" cy="5340096"/>
          </a:xfrm>
          <a:prstGeom prst="rect">
            <a:avLst/>
          </a:prstGeom>
        </p:spPr>
      </p:pic>
      <p:sp>
        <p:nvSpPr>
          <p:cNvPr id="23" name="Shape 20"/>
          <p:cNvSpPr/>
          <p:nvPr/>
        </p:nvSpPr>
        <p:spPr>
          <a:xfrm>
            <a:off x="7388352" y="5989320"/>
            <a:ext cx="3611880" cy="310896"/>
          </a:xfrm>
          <a:prstGeom prst="roundRect">
            <a:avLst>
              <a:gd name="adj" fmla="val 23529"/>
            </a:avLst>
          </a:prstGeom>
          <a:solidFill>
            <a:srgbClr val="101625"/>
          </a:solidFill>
          <a:ln w="6350">
            <a:solidFill>
              <a:srgbClr val="101625"/>
            </a:solidFill>
            <a:prstDash val="solid"/>
          </a:ln>
        </p:spPr>
      </p:sp>
      <p:sp>
        <p:nvSpPr>
          <p:cNvPr id="24" name="Text 21"/>
          <p:cNvSpPr txBox="1"/>
          <p:nvPr/>
        </p:nvSpPr>
        <p:spPr>
          <a:xfrm>
            <a:off x="7479792" y="5998464"/>
            <a:ext cx="3429000" cy="292608"/>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rial" pitchFamily="34" charset="0"/>
                <a:ea typeface="Arial" pitchFamily="34" charset="-122"/>
                <a:cs typeface="Arial" pitchFamily="34" charset="-120"/>
              </a:rPr>
              <a:t>AI-DRAFTED · EVIDENCE-LINKED · REP-REVIEWED</a:t>
            </a:r>
            <a:endParaRPr lang="en-US" sz="840" dirty="0"/>
          </a:p>
        </p:txBody>
      </p:sp>
      <p:sp>
        <p:nvSpPr>
          <p:cNvPr id="25" name="Shape 22"/>
          <p:cNvSpPr/>
          <p:nvPr/>
        </p:nvSpPr>
        <p:spPr>
          <a:xfrm>
            <a:off x="621792" y="6556248"/>
            <a:ext cx="10945368" cy="0"/>
          </a:xfrm>
          <a:prstGeom prst="line">
            <a:avLst/>
          </a:prstGeom>
          <a:noFill/>
          <a:ln w="7620">
            <a:solidFill>
              <a:srgbClr val="DCE3ED"/>
            </a:solidFill>
            <a:prstDash val="solid"/>
          </a:ln>
        </p:spPr>
      </p:sp>
      <p:sp>
        <p:nvSpPr>
          <p:cNvPr id="26" name="Text 23"/>
          <p:cNvSpPr txBox="1"/>
          <p:nvPr/>
        </p:nvSpPr>
        <p:spPr>
          <a:xfrm>
            <a:off x="621792" y="6592824"/>
            <a:ext cx="9966960" cy="146304"/>
          </a:xfrm>
          <a:prstGeom prst="rect">
            <a:avLst/>
          </a:prstGeom>
          <a:noFill/>
          <a:ln/>
        </p:spPr>
        <p:txBody>
          <a:bodyPr wrap="square" lIns="0" tIns="0" rIns="0" bIns="0" rtlCol="0" anchor="t">
            <a:normAutofit/>
          </a:bodyPr>
          <a:lstStyle/>
          <a:p>
            <a:pPr algn="l" indent="0" marL="0">
              <a:buNone/>
            </a:pPr>
            <a:r>
              <a:rPr lang="en-US" sz="780" dirty="0">
                <a:solidFill>
                  <a:srgbClr val="94A3B8"/>
                </a:solidFill>
                <a:latin typeface="Arial" pitchFamily="34" charset="0"/>
                <a:ea typeface="Arial" pitchFamily="34" charset="-122"/>
                <a:cs typeface="Arial" pitchFamily="34" charset="-120"/>
              </a:rPr>
              <a:t>Composite case-study prototype · simulated CRM/vendor inputs · no physician endorsement implied</a:t>
            </a:r>
            <a:endParaRPr lang="en-US" sz="780" dirty="0"/>
          </a:p>
        </p:txBody>
      </p:sp>
      <p:sp>
        <p:nvSpPr>
          <p:cNvPr id="27" name="Text 24"/>
          <p:cNvSpPr txBox="1"/>
          <p:nvPr/>
        </p:nvSpPr>
        <p:spPr>
          <a:xfrm>
            <a:off x="11109960" y="6574536"/>
            <a:ext cx="457200" cy="164592"/>
          </a:xfrm>
          <a:prstGeom prst="rect">
            <a:avLst/>
          </a:prstGeom>
          <a:noFill/>
          <a:ln/>
        </p:spPr>
        <p:txBody>
          <a:bodyPr wrap="square" lIns="0" tIns="0" rIns="0" bIns="0" rtlCol="0" anchor="t">
            <a:normAutofit/>
          </a:bodyPr>
          <a:lstStyle/>
          <a:p>
            <a:pPr algn="r" indent="0" marL="0">
              <a:buNone/>
            </a:pPr>
            <a:r>
              <a:rPr lang="en-US" sz="850" b="1" dirty="0">
                <a:solidFill>
                  <a:srgbClr val="94A3B8"/>
                </a:solidFill>
                <a:latin typeface="Arial" pitchFamily="34" charset="0"/>
                <a:ea typeface="Arial" pitchFamily="34" charset="-122"/>
                <a:cs typeface="Arial"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Text 0"/>
          <p:cNvSpPr txBox="1"/>
          <p:nvPr/>
        </p:nvSpPr>
        <p:spPr>
          <a:xfrm>
            <a:off x="621792" y="301752"/>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3157F6"/>
                </a:solidFill>
                <a:latin typeface="Arial" pitchFamily="34" charset="0"/>
                <a:ea typeface="Arial" pitchFamily="34" charset="-122"/>
                <a:cs typeface="Arial" pitchFamily="34" charset="-120"/>
              </a:rPr>
              <a:t>TEMPUS SALES COPILOT · CASE STUDY</a:t>
            </a:r>
            <a:endParaRPr lang="en-US" sz="950" dirty="0"/>
          </a:p>
        </p:txBody>
      </p:sp>
      <p:sp>
        <p:nvSpPr>
          <p:cNvPr id="3" name="Text 1"/>
          <p:cNvSpPr txBox="1"/>
          <p:nvPr/>
        </p:nvSpPr>
        <p:spPr>
          <a:xfrm>
            <a:off x="621792" y="566928"/>
            <a:ext cx="10972800" cy="502920"/>
          </a:xfrm>
          <a:prstGeom prst="rect">
            <a:avLst/>
          </a:prstGeom>
          <a:noFill/>
          <a:ln/>
        </p:spPr>
        <p:txBody>
          <a:bodyPr wrap="square" lIns="0" tIns="0" rIns="0" bIns="0" rtlCol="0" anchor="t">
            <a:normAutofit/>
          </a:bodyPr>
          <a:lstStyle/>
          <a:p>
            <a:pPr algn="l" indent="0" marL="0">
              <a:buNone/>
            </a:pPr>
            <a:r>
              <a:rPr lang="en-US" sz="2700" b="1" dirty="0">
                <a:solidFill>
                  <a:srgbClr val="111827"/>
                </a:solidFill>
                <a:latin typeface="Arial" pitchFamily="34" charset="0"/>
                <a:ea typeface="Arial" pitchFamily="34" charset="-122"/>
                <a:cs typeface="Arial" pitchFamily="34" charset="-120"/>
              </a:rPr>
              <a:t>A verifier-first build: decisions stay deterministic.</a:t>
            </a:r>
            <a:endParaRPr lang="en-US" sz="2700" dirty="0"/>
          </a:p>
        </p:txBody>
      </p:sp>
      <p:sp>
        <p:nvSpPr>
          <p:cNvPr id="4" name="Text 2"/>
          <p:cNvSpPr txBox="1"/>
          <p:nvPr/>
        </p:nvSpPr>
        <p:spPr>
          <a:xfrm>
            <a:off x="621792" y="1060704"/>
            <a:ext cx="10972800" cy="329184"/>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rial" pitchFamily="34" charset="0"/>
                <a:ea typeface="Arial" pitchFamily="34" charset="-122"/>
                <a:cs typeface="Arial" pitchFamily="34" charset="-120"/>
              </a:rPr>
              <a:t>The process starts with the rep’s decision, not with a model.</a:t>
            </a:r>
            <a:endParaRPr lang="en-US" sz="1350" dirty="0"/>
          </a:p>
        </p:txBody>
      </p:sp>
      <p:sp>
        <p:nvSpPr>
          <p:cNvPr id="5" name="Shape 3"/>
          <p:cNvSpPr/>
          <p:nvPr/>
        </p:nvSpPr>
        <p:spPr>
          <a:xfrm>
            <a:off x="7333488" y="347472"/>
            <a:ext cx="4224528" cy="329184"/>
          </a:xfrm>
          <a:prstGeom prst="roundRect">
            <a:avLst>
              <a:gd name="adj" fmla="val 22222"/>
            </a:avLst>
          </a:prstGeom>
          <a:solidFill>
            <a:srgbClr val="101625"/>
          </a:solidFill>
          <a:ln w="6350">
            <a:solidFill>
              <a:srgbClr val="101625"/>
            </a:solidFill>
            <a:prstDash val="solid"/>
          </a:ln>
        </p:spPr>
      </p:sp>
      <p:sp>
        <p:nvSpPr>
          <p:cNvPr id="6" name="Text 4"/>
          <p:cNvSpPr txBox="1"/>
          <p:nvPr/>
        </p:nvSpPr>
        <p:spPr>
          <a:xfrm>
            <a:off x="7424928" y="356616"/>
            <a:ext cx="4041648" cy="310896"/>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GENAI WRITES THE MESSAGE · IT DOES NOT GENERATE THE RANK</a:t>
            </a:r>
            <a:endParaRPr lang="en-US" sz="850" dirty="0"/>
          </a:p>
        </p:txBody>
      </p:sp>
      <p:sp>
        <p:nvSpPr>
          <p:cNvPr id="7" name="Shape 5"/>
          <p:cNvSpPr/>
          <p:nvPr/>
        </p:nvSpPr>
        <p:spPr>
          <a:xfrm>
            <a:off x="621792" y="1527048"/>
            <a:ext cx="2331720" cy="1856232"/>
          </a:xfrm>
          <a:prstGeom prst="roundRect">
            <a:avLst>
              <a:gd name="adj" fmla="val 3941"/>
            </a:avLst>
          </a:prstGeom>
          <a:solidFill>
            <a:srgbClr val="FFFFFF"/>
          </a:solidFill>
          <a:ln w="8890">
            <a:solidFill>
              <a:srgbClr val="DCE3ED"/>
            </a:solidFill>
            <a:prstDash val="solid"/>
          </a:ln>
        </p:spPr>
      </p:sp>
      <p:sp>
        <p:nvSpPr>
          <p:cNvPr id="8" name="Shape 6"/>
          <p:cNvSpPr/>
          <p:nvPr/>
        </p:nvSpPr>
        <p:spPr>
          <a:xfrm>
            <a:off x="786384" y="1691640"/>
            <a:ext cx="475488" cy="265176"/>
          </a:xfrm>
          <a:prstGeom prst="roundRect">
            <a:avLst>
              <a:gd name="adj" fmla="val 27586"/>
            </a:avLst>
          </a:prstGeom>
          <a:solidFill>
            <a:srgbClr val="3157F6"/>
          </a:solidFill>
          <a:ln w="6350">
            <a:solidFill>
              <a:srgbClr val="3157F6"/>
            </a:solidFill>
            <a:prstDash val="solid"/>
          </a:ln>
        </p:spPr>
      </p:sp>
      <p:sp>
        <p:nvSpPr>
          <p:cNvPr id="9" name="Text 7"/>
          <p:cNvSpPr txBox="1"/>
          <p:nvPr/>
        </p:nvSpPr>
        <p:spPr>
          <a:xfrm>
            <a:off x="877824" y="1700784"/>
            <a:ext cx="292608" cy="246888"/>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rial" pitchFamily="34" charset="0"/>
                <a:ea typeface="Arial" pitchFamily="34" charset="-122"/>
                <a:cs typeface="Arial" pitchFamily="34" charset="-120"/>
              </a:rPr>
              <a:t>01</a:t>
            </a:r>
            <a:endParaRPr lang="en-US" sz="860" dirty="0"/>
          </a:p>
        </p:txBody>
      </p:sp>
      <p:sp>
        <p:nvSpPr>
          <p:cNvPr id="10" name="Text 8"/>
          <p:cNvSpPr txBox="1"/>
          <p:nvPr/>
        </p:nvSpPr>
        <p:spPr>
          <a:xfrm>
            <a:off x="786384" y="2084832"/>
            <a:ext cx="2002536" cy="320040"/>
          </a:xfrm>
          <a:prstGeom prst="rect">
            <a:avLst/>
          </a:prstGeom>
          <a:noFill/>
          <a:ln/>
        </p:spPr>
        <p:txBody>
          <a:bodyPr wrap="square" lIns="0" tIns="0" rIns="0" bIns="0" rtlCol="0" anchor="t">
            <a:normAutofit/>
          </a:bodyPr>
          <a:lstStyle/>
          <a:p>
            <a:pPr algn="l" indent="0" marL="0">
              <a:buNone/>
            </a:pPr>
            <a:r>
              <a:rPr lang="en-US" sz="1450" b="1" dirty="0">
                <a:solidFill>
                  <a:srgbClr val="111827"/>
                </a:solidFill>
                <a:latin typeface="Arial" pitchFamily="34" charset="0"/>
                <a:ea typeface="Arial" pitchFamily="34" charset="-122"/>
                <a:cs typeface="Arial" pitchFamily="34" charset="-120"/>
              </a:rPr>
              <a:t>Ingest + label</a:t>
            </a:r>
            <a:endParaRPr lang="en-US" sz="1450" dirty="0"/>
          </a:p>
        </p:txBody>
      </p:sp>
      <p:sp>
        <p:nvSpPr>
          <p:cNvPr id="11" name="Text 9"/>
          <p:cNvSpPr txBox="1"/>
          <p:nvPr/>
        </p:nvSpPr>
        <p:spPr>
          <a:xfrm>
            <a:off x="786384" y="2459736"/>
            <a:ext cx="2002536" cy="685800"/>
          </a:xfrm>
          <a:prstGeom prst="rect">
            <a:avLst/>
          </a:prstGeom>
          <a:noFill/>
          <a:ln/>
        </p:spPr>
        <p:txBody>
          <a:bodyPr wrap="square" lIns="0" tIns="0" rIns="0" bIns="0" rtlCol="0" anchor="t">
            <a:normAutofit/>
          </a:bodyPr>
          <a:lstStyle/>
          <a:p>
            <a:pPr algn="l" indent="0" marL="0">
              <a:buNone/>
            </a:pPr>
            <a:r>
              <a:rPr lang="en-US" sz="1050" dirty="0">
                <a:solidFill>
                  <a:srgbClr val="64748B"/>
                </a:solidFill>
                <a:latin typeface="Arial" pitchFamily="34" charset="0"/>
                <a:ea typeface="Arial" pitchFamily="34" charset="-122"/>
                <a:cs typeface="Arial" pitchFamily="34" charset="-120"/>
              </a:rPr>
              <a:t>CSV market estimates, CRM text, and Markdown product KB. Public enrichment from NPPES, CMS, trials, payments, and PubMed.</a:t>
            </a:r>
            <a:endParaRPr lang="en-US" sz="1050" dirty="0"/>
          </a:p>
        </p:txBody>
      </p:sp>
      <p:sp>
        <p:nvSpPr>
          <p:cNvPr id="12" name="Shape 10"/>
          <p:cNvSpPr/>
          <p:nvPr/>
        </p:nvSpPr>
        <p:spPr>
          <a:xfrm>
            <a:off x="3383280" y="1527048"/>
            <a:ext cx="2331720" cy="1856232"/>
          </a:xfrm>
          <a:prstGeom prst="roundRect">
            <a:avLst>
              <a:gd name="adj" fmla="val 3941"/>
            </a:avLst>
          </a:prstGeom>
          <a:solidFill>
            <a:srgbClr val="FFFFFF"/>
          </a:solidFill>
          <a:ln w="8890">
            <a:solidFill>
              <a:srgbClr val="DCE3ED"/>
            </a:solidFill>
            <a:prstDash val="solid"/>
          </a:ln>
        </p:spPr>
      </p:sp>
      <p:sp>
        <p:nvSpPr>
          <p:cNvPr id="13" name="Shape 11"/>
          <p:cNvSpPr/>
          <p:nvPr/>
        </p:nvSpPr>
        <p:spPr>
          <a:xfrm>
            <a:off x="3547872" y="1691640"/>
            <a:ext cx="475488" cy="265176"/>
          </a:xfrm>
          <a:prstGeom prst="roundRect">
            <a:avLst>
              <a:gd name="adj" fmla="val 27586"/>
            </a:avLst>
          </a:prstGeom>
          <a:solidFill>
            <a:srgbClr val="14846F"/>
          </a:solidFill>
          <a:ln w="6350">
            <a:solidFill>
              <a:srgbClr val="14846F"/>
            </a:solidFill>
            <a:prstDash val="solid"/>
          </a:ln>
        </p:spPr>
      </p:sp>
      <p:sp>
        <p:nvSpPr>
          <p:cNvPr id="14" name="Text 12"/>
          <p:cNvSpPr txBox="1"/>
          <p:nvPr/>
        </p:nvSpPr>
        <p:spPr>
          <a:xfrm>
            <a:off x="3639312" y="1700784"/>
            <a:ext cx="292608" cy="246888"/>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rial" pitchFamily="34" charset="0"/>
                <a:ea typeface="Arial" pitchFamily="34" charset="-122"/>
                <a:cs typeface="Arial" pitchFamily="34" charset="-120"/>
              </a:rPr>
              <a:t>02</a:t>
            </a:r>
            <a:endParaRPr lang="en-US" sz="860" dirty="0"/>
          </a:p>
        </p:txBody>
      </p:sp>
      <p:sp>
        <p:nvSpPr>
          <p:cNvPr id="15" name="Text 13"/>
          <p:cNvSpPr txBox="1"/>
          <p:nvPr/>
        </p:nvSpPr>
        <p:spPr>
          <a:xfrm>
            <a:off x="3547872" y="2084832"/>
            <a:ext cx="2002536" cy="320040"/>
          </a:xfrm>
          <a:prstGeom prst="rect">
            <a:avLst/>
          </a:prstGeom>
          <a:noFill/>
          <a:ln/>
        </p:spPr>
        <p:txBody>
          <a:bodyPr wrap="square" lIns="0" tIns="0" rIns="0" bIns="0" rtlCol="0" anchor="t">
            <a:normAutofit/>
          </a:bodyPr>
          <a:lstStyle/>
          <a:p>
            <a:pPr algn="l" indent="0" marL="0">
              <a:buNone/>
            </a:pPr>
            <a:r>
              <a:rPr lang="en-US" sz="1450" b="1" dirty="0">
                <a:solidFill>
                  <a:srgbClr val="111827"/>
                </a:solidFill>
                <a:latin typeface="Arial" pitchFamily="34" charset="0"/>
                <a:ea typeface="Arial" pitchFamily="34" charset="-122"/>
                <a:cs typeface="Arial" pitchFamily="34" charset="-120"/>
              </a:rPr>
              <a:t>Resolve + score</a:t>
            </a:r>
            <a:endParaRPr lang="en-US" sz="1450" dirty="0"/>
          </a:p>
        </p:txBody>
      </p:sp>
      <p:sp>
        <p:nvSpPr>
          <p:cNvPr id="16" name="Text 14"/>
          <p:cNvSpPr txBox="1"/>
          <p:nvPr/>
        </p:nvSpPr>
        <p:spPr>
          <a:xfrm>
            <a:off x="3547872" y="2459736"/>
            <a:ext cx="2002536" cy="685800"/>
          </a:xfrm>
          <a:prstGeom prst="rect">
            <a:avLst/>
          </a:prstGeom>
          <a:noFill/>
          <a:ln/>
        </p:spPr>
        <p:txBody>
          <a:bodyPr wrap="square" lIns="0" tIns="0" rIns="0" bIns="0" rtlCol="0" anchor="t">
            <a:normAutofit/>
          </a:bodyPr>
          <a:lstStyle/>
          <a:p>
            <a:pPr algn="l" indent="0" marL="0">
              <a:buNone/>
            </a:pPr>
            <a:r>
              <a:rPr lang="en-US" sz="1050" dirty="0">
                <a:solidFill>
                  <a:srgbClr val="64748B"/>
                </a:solidFill>
                <a:latin typeface="Arial" pitchFamily="34" charset="0"/>
                <a:ea typeface="Arial" pitchFamily="34" charset="-122"/>
                <a:cs typeface="Arial" pitchFamily="34" charset="-120"/>
              </a:rPr>
              <a:t>NPI and name joins, cross-source consensus, deterministic weighted ranking, and rule-based panel fit.</a:t>
            </a:r>
            <a:endParaRPr lang="en-US" sz="1050" dirty="0"/>
          </a:p>
        </p:txBody>
      </p:sp>
      <p:sp>
        <p:nvSpPr>
          <p:cNvPr id="17" name="Shape 15"/>
          <p:cNvSpPr/>
          <p:nvPr/>
        </p:nvSpPr>
        <p:spPr>
          <a:xfrm>
            <a:off x="6144768" y="1527048"/>
            <a:ext cx="2331720" cy="1856232"/>
          </a:xfrm>
          <a:prstGeom prst="roundRect">
            <a:avLst>
              <a:gd name="adj" fmla="val 3941"/>
            </a:avLst>
          </a:prstGeom>
          <a:solidFill>
            <a:srgbClr val="FFFFFF"/>
          </a:solidFill>
          <a:ln w="8890">
            <a:solidFill>
              <a:srgbClr val="DCE3ED"/>
            </a:solidFill>
            <a:prstDash val="solid"/>
          </a:ln>
        </p:spPr>
      </p:sp>
      <p:sp>
        <p:nvSpPr>
          <p:cNvPr id="18" name="Shape 16"/>
          <p:cNvSpPr/>
          <p:nvPr/>
        </p:nvSpPr>
        <p:spPr>
          <a:xfrm>
            <a:off x="6309360" y="1691640"/>
            <a:ext cx="475488" cy="265176"/>
          </a:xfrm>
          <a:prstGeom prst="roundRect">
            <a:avLst>
              <a:gd name="adj" fmla="val 27586"/>
            </a:avLst>
          </a:prstGeom>
          <a:solidFill>
            <a:srgbClr val="6C63FF"/>
          </a:solidFill>
          <a:ln w="6350">
            <a:solidFill>
              <a:srgbClr val="6C63FF"/>
            </a:solidFill>
            <a:prstDash val="solid"/>
          </a:ln>
        </p:spPr>
      </p:sp>
      <p:sp>
        <p:nvSpPr>
          <p:cNvPr id="19" name="Text 17"/>
          <p:cNvSpPr txBox="1"/>
          <p:nvPr/>
        </p:nvSpPr>
        <p:spPr>
          <a:xfrm>
            <a:off x="6400800" y="1700784"/>
            <a:ext cx="292608" cy="246888"/>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rial" pitchFamily="34" charset="0"/>
                <a:ea typeface="Arial" pitchFamily="34" charset="-122"/>
                <a:cs typeface="Arial" pitchFamily="34" charset="-120"/>
              </a:rPr>
              <a:t>03</a:t>
            </a:r>
            <a:endParaRPr lang="en-US" sz="860" dirty="0"/>
          </a:p>
        </p:txBody>
      </p:sp>
      <p:sp>
        <p:nvSpPr>
          <p:cNvPr id="20" name="Text 18"/>
          <p:cNvSpPr txBox="1"/>
          <p:nvPr/>
        </p:nvSpPr>
        <p:spPr>
          <a:xfrm>
            <a:off x="6309360" y="2084832"/>
            <a:ext cx="2002536" cy="320040"/>
          </a:xfrm>
          <a:prstGeom prst="rect">
            <a:avLst/>
          </a:prstGeom>
          <a:noFill/>
          <a:ln/>
        </p:spPr>
        <p:txBody>
          <a:bodyPr wrap="square" lIns="0" tIns="0" rIns="0" bIns="0" rtlCol="0" anchor="t">
            <a:normAutofit/>
          </a:bodyPr>
          <a:lstStyle/>
          <a:p>
            <a:pPr algn="l" indent="0" marL="0">
              <a:buNone/>
            </a:pPr>
            <a:r>
              <a:rPr lang="en-US" sz="1450" b="1" dirty="0">
                <a:solidFill>
                  <a:srgbClr val="111827"/>
                </a:solidFill>
                <a:latin typeface="Arial" pitchFamily="34" charset="0"/>
                <a:ea typeface="Arial" pitchFamily="34" charset="-122"/>
                <a:cs typeface="Arial" pitchFamily="34" charset="-120"/>
              </a:rPr>
              <a:t>Retrieve + draft</a:t>
            </a:r>
            <a:endParaRPr lang="en-US" sz="1450" dirty="0"/>
          </a:p>
        </p:txBody>
      </p:sp>
      <p:sp>
        <p:nvSpPr>
          <p:cNvPr id="21" name="Text 19"/>
          <p:cNvSpPr txBox="1"/>
          <p:nvPr/>
        </p:nvSpPr>
        <p:spPr>
          <a:xfrm>
            <a:off x="6309360" y="2459736"/>
            <a:ext cx="2002536" cy="685800"/>
          </a:xfrm>
          <a:prstGeom prst="rect">
            <a:avLst/>
          </a:prstGeom>
          <a:noFill/>
          <a:ln/>
        </p:spPr>
        <p:txBody>
          <a:bodyPr wrap="square" lIns="0" tIns="0" rIns="0" bIns="0" rtlCol="0" anchor="t">
            <a:normAutofit/>
          </a:bodyPr>
          <a:lstStyle/>
          <a:p>
            <a:pPr algn="l" indent="0" marL="0">
              <a:buNone/>
            </a:pPr>
            <a:r>
              <a:rPr lang="en-US" sz="1050" dirty="0">
                <a:solidFill>
                  <a:srgbClr val="64748B"/>
                </a:solidFill>
                <a:latin typeface="Arial" pitchFamily="34" charset="0"/>
                <a:ea typeface="Arial" pitchFamily="34" charset="-122"/>
                <a:cs typeface="Arial" pitchFamily="34" charset="-120"/>
              </a:rPr>
              <a:t>BM25 + curated topics retrieve evidence. Gemini returns structured claims with evidence IDs.</a:t>
            </a:r>
            <a:endParaRPr lang="en-US" sz="1050" dirty="0"/>
          </a:p>
        </p:txBody>
      </p:sp>
      <p:sp>
        <p:nvSpPr>
          <p:cNvPr id="22" name="Shape 20"/>
          <p:cNvSpPr/>
          <p:nvPr/>
        </p:nvSpPr>
        <p:spPr>
          <a:xfrm>
            <a:off x="8906256" y="1527048"/>
            <a:ext cx="2331720" cy="1856232"/>
          </a:xfrm>
          <a:prstGeom prst="roundRect">
            <a:avLst>
              <a:gd name="adj" fmla="val 3941"/>
            </a:avLst>
          </a:prstGeom>
          <a:solidFill>
            <a:srgbClr val="FFFFFF"/>
          </a:solidFill>
          <a:ln w="8890">
            <a:solidFill>
              <a:srgbClr val="DCE3ED"/>
            </a:solidFill>
            <a:prstDash val="solid"/>
          </a:ln>
        </p:spPr>
      </p:sp>
      <p:sp>
        <p:nvSpPr>
          <p:cNvPr id="23" name="Shape 21"/>
          <p:cNvSpPr/>
          <p:nvPr/>
        </p:nvSpPr>
        <p:spPr>
          <a:xfrm>
            <a:off x="9070848" y="1691640"/>
            <a:ext cx="475488" cy="265176"/>
          </a:xfrm>
          <a:prstGeom prst="roundRect">
            <a:avLst>
              <a:gd name="adj" fmla="val 27586"/>
            </a:avLst>
          </a:prstGeom>
          <a:solidFill>
            <a:srgbClr val="A86B00"/>
          </a:solidFill>
          <a:ln w="6350">
            <a:solidFill>
              <a:srgbClr val="A86B00"/>
            </a:solidFill>
            <a:prstDash val="solid"/>
          </a:ln>
        </p:spPr>
      </p:sp>
      <p:sp>
        <p:nvSpPr>
          <p:cNvPr id="24" name="Text 22"/>
          <p:cNvSpPr txBox="1"/>
          <p:nvPr/>
        </p:nvSpPr>
        <p:spPr>
          <a:xfrm>
            <a:off x="9162288" y="1700784"/>
            <a:ext cx="292608" cy="246888"/>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rial" pitchFamily="34" charset="0"/>
                <a:ea typeface="Arial" pitchFamily="34" charset="-122"/>
                <a:cs typeface="Arial" pitchFamily="34" charset="-120"/>
              </a:rPr>
              <a:t>04</a:t>
            </a:r>
            <a:endParaRPr lang="en-US" sz="860" dirty="0"/>
          </a:p>
        </p:txBody>
      </p:sp>
      <p:sp>
        <p:nvSpPr>
          <p:cNvPr id="25" name="Text 23"/>
          <p:cNvSpPr txBox="1"/>
          <p:nvPr/>
        </p:nvSpPr>
        <p:spPr>
          <a:xfrm>
            <a:off x="9070848" y="2084832"/>
            <a:ext cx="2002536" cy="320040"/>
          </a:xfrm>
          <a:prstGeom prst="rect">
            <a:avLst/>
          </a:prstGeom>
          <a:noFill/>
          <a:ln/>
        </p:spPr>
        <p:txBody>
          <a:bodyPr wrap="square" lIns="0" tIns="0" rIns="0" bIns="0" rtlCol="0" anchor="t">
            <a:normAutofit/>
          </a:bodyPr>
          <a:lstStyle/>
          <a:p>
            <a:pPr algn="l" indent="0" marL="0">
              <a:buNone/>
            </a:pPr>
            <a:r>
              <a:rPr lang="en-US" sz="1450" b="1" dirty="0">
                <a:solidFill>
                  <a:srgbClr val="111827"/>
                </a:solidFill>
                <a:latin typeface="Arial" pitchFamily="34" charset="0"/>
                <a:ea typeface="Arial" pitchFamily="34" charset="-122"/>
                <a:cs typeface="Arial" pitchFamily="34" charset="-120"/>
              </a:rPr>
              <a:t>Verify + assemble</a:t>
            </a:r>
            <a:endParaRPr lang="en-US" sz="1450" dirty="0"/>
          </a:p>
        </p:txBody>
      </p:sp>
      <p:sp>
        <p:nvSpPr>
          <p:cNvPr id="26" name="Text 24"/>
          <p:cNvSpPr txBox="1"/>
          <p:nvPr/>
        </p:nvSpPr>
        <p:spPr>
          <a:xfrm>
            <a:off x="9070848" y="2459736"/>
            <a:ext cx="2002536" cy="685800"/>
          </a:xfrm>
          <a:prstGeom prst="rect">
            <a:avLst/>
          </a:prstGeom>
          <a:noFill/>
          <a:ln/>
        </p:spPr>
        <p:txBody>
          <a:bodyPr wrap="square" lIns="0" tIns="0" rIns="0" bIns="0" rtlCol="0" anchor="t">
            <a:normAutofit/>
          </a:bodyPr>
          <a:lstStyle/>
          <a:p>
            <a:pPr algn="l" indent="0" marL="0">
              <a:buNone/>
            </a:pPr>
            <a:r>
              <a:rPr lang="en-US" sz="1050" dirty="0">
                <a:solidFill>
                  <a:srgbClr val="64748B"/>
                </a:solidFill>
                <a:latin typeface="Arial" pitchFamily="34" charset="0"/>
                <a:ea typeface="Arial" pitchFamily="34" charset="-122"/>
                <a:cs typeface="Arial" pitchFamily="34" charset="-120"/>
              </a:rPr>
              <a:t>Input screen → evidence grade → numeric guard → independent Llama entailment → rep review.</a:t>
            </a:r>
            <a:endParaRPr lang="en-US" sz="1050" dirty="0"/>
          </a:p>
        </p:txBody>
      </p:sp>
      <p:sp>
        <p:nvSpPr>
          <p:cNvPr id="27" name="Shape 25"/>
          <p:cNvSpPr/>
          <p:nvPr/>
        </p:nvSpPr>
        <p:spPr>
          <a:xfrm>
            <a:off x="3044952" y="2240280"/>
            <a:ext cx="228600" cy="384048"/>
          </a:xfrm>
          <a:prstGeom prst="chevron">
            <a:avLst/>
          </a:prstGeom>
          <a:solidFill>
            <a:srgbClr val="C7CFDD"/>
          </a:solidFill>
          <a:ln w="12700">
            <a:solidFill>
              <a:srgbClr val="C7CFDD"/>
            </a:solidFill>
            <a:prstDash val="solid"/>
          </a:ln>
        </p:spPr>
      </p:sp>
      <p:sp>
        <p:nvSpPr>
          <p:cNvPr id="28" name="Shape 26"/>
          <p:cNvSpPr/>
          <p:nvPr/>
        </p:nvSpPr>
        <p:spPr>
          <a:xfrm>
            <a:off x="5806440" y="2240280"/>
            <a:ext cx="228600" cy="384048"/>
          </a:xfrm>
          <a:prstGeom prst="chevron">
            <a:avLst/>
          </a:prstGeom>
          <a:solidFill>
            <a:srgbClr val="C7CFDD"/>
          </a:solidFill>
          <a:ln w="12700">
            <a:solidFill>
              <a:srgbClr val="C7CFDD"/>
            </a:solidFill>
            <a:prstDash val="solid"/>
          </a:ln>
        </p:spPr>
      </p:sp>
      <p:sp>
        <p:nvSpPr>
          <p:cNvPr id="29" name="Shape 27"/>
          <p:cNvSpPr/>
          <p:nvPr/>
        </p:nvSpPr>
        <p:spPr>
          <a:xfrm>
            <a:off x="8567928" y="2240280"/>
            <a:ext cx="228600" cy="384048"/>
          </a:xfrm>
          <a:prstGeom prst="chevron">
            <a:avLst/>
          </a:prstGeom>
          <a:solidFill>
            <a:srgbClr val="C7CFDD"/>
          </a:solidFill>
          <a:ln w="12700">
            <a:solidFill>
              <a:srgbClr val="C7CFDD"/>
            </a:solidFill>
            <a:prstDash val="solid"/>
          </a:ln>
        </p:spPr>
      </p:sp>
      <p:sp>
        <p:nvSpPr>
          <p:cNvPr id="30" name="Shape 28"/>
          <p:cNvSpPr/>
          <p:nvPr/>
        </p:nvSpPr>
        <p:spPr>
          <a:xfrm>
            <a:off x="621792" y="3822192"/>
            <a:ext cx="5230368" cy="2240280"/>
          </a:xfrm>
          <a:prstGeom prst="roundRect">
            <a:avLst>
              <a:gd name="adj" fmla="val 3265"/>
            </a:avLst>
          </a:prstGeom>
          <a:solidFill>
            <a:srgbClr val="FFFFFF"/>
          </a:solidFill>
          <a:ln w="8890">
            <a:solidFill>
              <a:srgbClr val="DCE3ED"/>
            </a:solidFill>
            <a:prstDash val="solid"/>
          </a:ln>
        </p:spPr>
      </p:sp>
      <p:sp>
        <p:nvSpPr>
          <p:cNvPr id="31" name="Text 29"/>
          <p:cNvSpPr txBox="1"/>
          <p:nvPr/>
        </p:nvSpPr>
        <p:spPr>
          <a:xfrm>
            <a:off x="841248" y="4069080"/>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14846F"/>
                </a:solidFill>
                <a:latin typeface="Arial" pitchFamily="34" charset="0"/>
                <a:ea typeface="Arial" pitchFamily="34" charset="-122"/>
                <a:cs typeface="Arial" pitchFamily="34" charset="-120"/>
              </a:rPr>
              <a:t>BUILD PROCESS + TOOLS</a:t>
            </a:r>
            <a:endParaRPr lang="en-US" sz="950" dirty="0"/>
          </a:p>
        </p:txBody>
      </p:sp>
      <p:sp>
        <p:nvSpPr>
          <p:cNvPr id="32" name="Text 30"/>
          <p:cNvSpPr txBox="1"/>
          <p:nvPr/>
        </p:nvSpPr>
        <p:spPr>
          <a:xfrm>
            <a:off x="868680" y="4471416"/>
            <a:ext cx="228600" cy="201168"/>
          </a:xfrm>
          <a:prstGeom prst="rect">
            <a:avLst/>
          </a:prstGeom>
          <a:noFill/>
          <a:ln/>
        </p:spPr>
        <p:txBody>
          <a:bodyPr wrap="square" lIns="0" tIns="0" rIns="0" bIns="0" rtlCol="0" anchor="t">
            <a:normAutofit/>
          </a:bodyPr>
          <a:lstStyle/>
          <a:p>
            <a:pPr algn="l" indent="0" marL="0">
              <a:buNone/>
            </a:pPr>
            <a:r>
              <a:rPr lang="en-US" sz="920" b="1" dirty="0">
                <a:solidFill>
                  <a:srgbClr val="14846F"/>
                </a:solidFill>
                <a:latin typeface="Arial" pitchFamily="34" charset="0"/>
                <a:ea typeface="Arial" pitchFamily="34" charset="-122"/>
                <a:cs typeface="Arial" pitchFamily="34" charset="-120"/>
              </a:rPr>
              <a:t>1</a:t>
            </a:r>
            <a:endParaRPr lang="en-US" sz="920" dirty="0"/>
          </a:p>
        </p:txBody>
      </p:sp>
      <p:sp>
        <p:nvSpPr>
          <p:cNvPr id="33" name="Text 31"/>
          <p:cNvSpPr txBox="1"/>
          <p:nvPr/>
        </p:nvSpPr>
        <p:spPr>
          <a:xfrm>
            <a:off x="1170432" y="4453128"/>
            <a:ext cx="2240280" cy="228600"/>
          </a:xfrm>
          <a:prstGeom prst="rect">
            <a:avLst/>
          </a:prstGeom>
          <a:noFill/>
          <a:ln/>
        </p:spPr>
        <p:txBody>
          <a:bodyPr wrap="square" lIns="0" tIns="0" rIns="0" bIns="0" rtlCol="0" anchor="t">
            <a:normAutofit/>
          </a:bodyPr>
          <a:lstStyle/>
          <a:p>
            <a:pPr algn="l" indent="0" marL="0">
              <a:buNone/>
            </a:pPr>
            <a:r>
              <a:rPr lang="en-US" sz="1040" dirty="0">
                <a:solidFill>
                  <a:srgbClr val="334155"/>
                </a:solidFill>
                <a:latin typeface="Arial" pitchFamily="34" charset="0"/>
                <a:ea typeface="Arial" pitchFamily="34" charset="-122"/>
                <a:cs typeface="Arial" pitchFamily="34" charset="-120"/>
              </a:rPr>
              <a:t>Frame the rep decision</a:t>
            </a:r>
            <a:endParaRPr lang="en-US" sz="1040" dirty="0"/>
          </a:p>
        </p:txBody>
      </p:sp>
      <p:sp>
        <p:nvSpPr>
          <p:cNvPr id="34" name="Text 32"/>
          <p:cNvSpPr txBox="1"/>
          <p:nvPr/>
        </p:nvSpPr>
        <p:spPr>
          <a:xfrm>
            <a:off x="868680" y="4800600"/>
            <a:ext cx="228600" cy="201168"/>
          </a:xfrm>
          <a:prstGeom prst="rect">
            <a:avLst/>
          </a:prstGeom>
          <a:noFill/>
          <a:ln/>
        </p:spPr>
        <p:txBody>
          <a:bodyPr wrap="square" lIns="0" tIns="0" rIns="0" bIns="0" rtlCol="0" anchor="t">
            <a:normAutofit/>
          </a:bodyPr>
          <a:lstStyle/>
          <a:p>
            <a:pPr algn="l" indent="0" marL="0">
              <a:buNone/>
            </a:pPr>
            <a:r>
              <a:rPr lang="en-US" sz="920" b="1" dirty="0">
                <a:solidFill>
                  <a:srgbClr val="14846F"/>
                </a:solidFill>
                <a:latin typeface="Arial" pitchFamily="34" charset="0"/>
                <a:ea typeface="Arial" pitchFamily="34" charset="-122"/>
                <a:cs typeface="Arial" pitchFamily="34" charset="-120"/>
              </a:rPr>
              <a:t>2</a:t>
            </a:r>
            <a:endParaRPr lang="en-US" sz="920" dirty="0"/>
          </a:p>
        </p:txBody>
      </p:sp>
      <p:sp>
        <p:nvSpPr>
          <p:cNvPr id="35" name="Text 33"/>
          <p:cNvSpPr txBox="1"/>
          <p:nvPr/>
        </p:nvSpPr>
        <p:spPr>
          <a:xfrm>
            <a:off x="1170432" y="4782312"/>
            <a:ext cx="2240280" cy="228600"/>
          </a:xfrm>
          <a:prstGeom prst="rect">
            <a:avLst/>
          </a:prstGeom>
          <a:noFill/>
          <a:ln/>
        </p:spPr>
        <p:txBody>
          <a:bodyPr wrap="square" lIns="0" tIns="0" rIns="0" bIns="0" rtlCol="0" anchor="t">
            <a:normAutofit/>
          </a:bodyPr>
          <a:lstStyle/>
          <a:p>
            <a:pPr algn="l" indent="0" marL="0">
              <a:buNone/>
            </a:pPr>
            <a:r>
              <a:rPr lang="en-US" sz="1040" dirty="0">
                <a:solidFill>
                  <a:srgbClr val="334155"/>
                </a:solidFill>
                <a:latin typeface="Arial" pitchFamily="34" charset="0"/>
                <a:ea typeface="Arial" pitchFamily="34" charset="-122"/>
                <a:cs typeface="Arial" pitchFamily="34" charset="-120"/>
              </a:rPr>
              <a:t>Join + normalize sources</a:t>
            </a:r>
            <a:endParaRPr lang="en-US" sz="1040" dirty="0"/>
          </a:p>
        </p:txBody>
      </p:sp>
      <p:sp>
        <p:nvSpPr>
          <p:cNvPr id="36" name="Text 34"/>
          <p:cNvSpPr txBox="1"/>
          <p:nvPr/>
        </p:nvSpPr>
        <p:spPr>
          <a:xfrm>
            <a:off x="868680" y="5129784"/>
            <a:ext cx="228600" cy="201168"/>
          </a:xfrm>
          <a:prstGeom prst="rect">
            <a:avLst/>
          </a:prstGeom>
          <a:noFill/>
          <a:ln/>
        </p:spPr>
        <p:txBody>
          <a:bodyPr wrap="square" lIns="0" tIns="0" rIns="0" bIns="0" rtlCol="0" anchor="t">
            <a:normAutofit/>
          </a:bodyPr>
          <a:lstStyle/>
          <a:p>
            <a:pPr algn="l" indent="0" marL="0">
              <a:buNone/>
            </a:pPr>
            <a:r>
              <a:rPr lang="en-US" sz="920" b="1" dirty="0">
                <a:solidFill>
                  <a:srgbClr val="14846F"/>
                </a:solidFill>
                <a:latin typeface="Arial" pitchFamily="34" charset="0"/>
                <a:ea typeface="Arial" pitchFamily="34" charset="-122"/>
                <a:cs typeface="Arial" pitchFamily="34" charset="-120"/>
              </a:rPr>
              <a:t>3</a:t>
            </a:r>
            <a:endParaRPr lang="en-US" sz="920" dirty="0"/>
          </a:p>
        </p:txBody>
      </p:sp>
      <p:sp>
        <p:nvSpPr>
          <p:cNvPr id="37" name="Text 35"/>
          <p:cNvSpPr txBox="1"/>
          <p:nvPr/>
        </p:nvSpPr>
        <p:spPr>
          <a:xfrm>
            <a:off x="1170432" y="5111496"/>
            <a:ext cx="2240280" cy="228600"/>
          </a:xfrm>
          <a:prstGeom prst="rect">
            <a:avLst/>
          </a:prstGeom>
          <a:noFill/>
          <a:ln/>
        </p:spPr>
        <p:txBody>
          <a:bodyPr wrap="square" lIns="0" tIns="0" rIns="0" bIns="0" rtlCol="0" anchor="t">
            <a:normAutofit/>
          </a:bodyPr>
          <a:lstStyle/>
          <a:p>
            <a:pPr algn="l" indent="0" marL="0">
              <a:buNone/>
            </a:pPr>
            <a:r>
              <a:rPr lang="en-US" sz="1040" dirty="0">
                <a:solidFill>
                  <a:srgbClr val="334155"/>
                </a:solidFill>
                <a:latin typeface="Arial" pitchFamily="34" charset="0"/>
                <a:ea typeface="Arial" pitchFamily="34" charset="-122"/>
                <a:cs typeface="Arial" pitchFamily="34" charset="-120"/>
              </a:rPr>
              <a:t>Prototype the workflow</a:t>
            </a:r>
            <a:endParaRPr lang="en-US" sz="1040" dirty="0"/>
          </a:p>
        </p:txBody>
      </p:sp>
      <p:sp>
        <p:nvSpPr>
          <p:cNvPr id="38" name="Text 36"/>
          <p:cNvSpPr txBox="1"/>
          <p:nvPr/>
        </p:nvSpPr>
        <p:spPr>
          <a:xfrm>
            <a:off x="868680" y="5458968"/>
            <a:ext cx="228600" cy="201168"/>
          </a:xfrm>
          <a:prstGeom prst="rect">
            <a:avLst/>
          </a:prstGeom>
          <a:noFill/>
          <a:ln/>
        </p:spPr>
        <p:txBody>
          <a:bodyPr wrap="square" lIns="0" tIns="0" rIns="0" bIns="0" rtlCol="0" anchor="t">
            <a:normAutofit/>
          </a:bodyPr>
          <a:lstStyle/>
          <a:p>
            <a:pPr algn="l" indent="0" marL="0">
              <a:buNone/>
            </a:pPr>
            <a:r>
              <a:rPr lang="en-US" sz="920" b="1" dirty="0">
                <a:solidFill>
                  <a:srgbClr val="14846F"/>
                </a:solidFill>
                <a:latin typeface="Arial" pitchFamily="34" charset="0"/>
                <a:ea typeface="Arial" pitchFamily="34" charset="-122"/>
                <a:cs typeface="Arial" pitchFamily="34" charset="-120"/>
              </a:rPr>
              <a:t>4</a:t>
            </a:r>
            <a:endParaRPr lang="en-US" sz="920" dirty="0"/>
          </a:p>
        </p:txBody>
      </p:sp>
      <p:sp>
        <p:nvSpPr>
          <p:cNvPr id="39" name="Text 37"/>
          <p:cNvSpPr txBox="1"/>
          <p:nvPr/>
        </p:nvSpPr>
        <p:spPr>
          <a:xfrm>
            <a:off x="1170432" y="5440680"/>
            <a:ext cx="2240280" cy="228600"/>
          </a:xfrm>
          <a:prstGeom prst="rect">
            <a:avLst/>
          </a:prstGeom>
          <a:noFill/>
          <a:ln/>
        </p:spPr>
        <p:txBody>
          <a:bodyPr wrap="square" lIns="0" tIns="0" rIns="0" bIns="0" rtlCol="0" anchor="t">
            <a:normAutofit/>
          </a:bodyPr>
          <a:lstStyle/>
          <a:p>
            <a:pPr algn="l" indent="0" marL="0">
              <a:buNone/>
            </a:pPr>
            <a:r>
              <a:rPr lang="en-US" sz="1040" dirty="0">
                <a:solidFill>
                  <a:srgbClr val="334155"/>
                </a:solidFill>
                <a:latin typeface="Arial" pitchFamily="34" charset="0"/>
                <a:ea typeface="Arial" pitchFamily="34" charset="-122"/>
                <a:cs typeface="Arial" pitchFamily="34" charset="-120"/>
              </a:rPr>
              <a:t>Attack failure modes + refine</a:t>
            </a:r>
            <a:endParaRPr lang="en-US" sz="1040" dirty="0"/>
          </a:p>
        </p:txBody>
      </p:sp>
      <p:sp>
        <p:nvSpPr>
          <p:cNvPr id="40" name="Shape 38"/>
          <p:cNvSpPr/>
          <p:nvPr/>
        </p:nvSpPr>
        <p:spPr>
          <a:xfrm>
            <a:off x="3502152" y="4416552"/>
            <a:ext cx="1984248" cy="274320"/>
          </a:xfrm>
          <a:prstGeom prst="roundRect">
            <a:avLst>
              <a:gd name="adj" fmla="val 26667"/>
            </a:avLst>
          </a:prstGeom>
          <a:solidFill>
            <a:srgbClr val="EEF1FF"/>
          </a:solidFill>
          <a:ln w="6350">
            <a:solidFill>
              <a:srgbClr val="EEF1FF"/>
            </a:solidFill>
            <a:prstDash val="solid"/>
          </a:ln>
        </p:spPr>
      </p:sp>
      <p:sp>
        <p:nvSpPr>
          <p:cNvPr id="41" name="Text 39"/>
          <p:cNvSpPr txBox="1"/>
          <p:nvPr/>
        </p:nvSpPr>
        <p:spPr>
          <a:xfrm>
            <a:off x="3593592" y="4425696"/>
            <a:ext cx="1801368" cy="256032"/>
          </a:xfrm>
          <a:prstGeom prst="rect">
            <a:avLst/>
          </a:prstGeom>
          <a:noFill/>
          <a:ln/>
        </p:spPr>
        <p:txBody>
          <a:bodyPr wrap="square" lIns="0" tIns="0" rIns="0" bIns="0" rtlCol="0" anchor="ctr">
            <a:normAutofit/>
          </a:bodyPr>
          <a:lstStyle/>
          <a:p>
            <a:pPr algn="ctr" indent="0" marL="0">
              <a:buNone/>
            </a:pPr>
            <a:r>
              <a:rPr lang="en-US" sz="820" b="1" dirty="0">
                <a:solidFill>
                  <a:srgbClr val="3157F6"/>
                </a:solidFill>
                <a:latin typeface="Arial" pitchFamily="34" charset="0"/>
                <a:ea typeface="Arial" pitchFamily="34" charset="-122"/>
                <a:cs typeface="Arial" pitchFamily="34" charset="-120"/>
              </a:rPr>
              <a:t>Claude Opus 5 · build-time</a:t>
            </a:r>
            <a:endParaRPr lang="en-US" sz="820" dirty="0"/>
          </a:p>
        </p:txBody>
      </p:sp>
      <p:sp>
        <p:nvSpPr>
          <p:cNvPr id="42" name="Shape 40"/>
          <p:cNvSpPr/>
          <p:nvPr/>
        </p:nvSpPr>
        <p:spPr>
          <a:xfrm>
            <a:off x="3502152" y="4800600"/>
            <a:ext cx="1984248" cy="274320"/>
          </a:xfrm>
          <a:prstGeom prst="roundRect">
            <a:avLst>
              <a:gd name="adj" fmla="val 26667"/>
            </a:avLst>
          </a:prstGeom>
          <a:solidFill>
            <a:srgbClr val="EEF4F8"/>
          </a:solidFill>
          <a:ln w="6350">
            <a:solidFill>
              <a:srgbClr val="EEF4F8"/>
            </a:solidFill>
            <a:prstDash val="solid"/>
          </a:ln>
        </p:spPr>
      </p:sp>
      <p:sp>
        <p:nvSpPr>
          <p:cNvPr id="43" name="Text 41"/>
          <p:cNvSpPr txBox="1"/>
          <p:nvPr/>
        </p:nvSpPr>
        <p:spPr>
          <a:xfrm>
            <a:off x="3593592" y="4809744"/>
            <a:ext cx="1801368" cy="256032"/>
          </a:xfrm>
          <a:prstGeom prst="rect">
            <a:avLst/>
          </a:prstGeom>
          <a:noFill/>
          <a:ln/>
        </p:spPr>
        <p:txBody>
          <a:bodyPr wrap="square" lIns="0" tIns="0" rIns="0" bIns="0" rtlCol="0" anchor="ctr">
            <a:normAutofit/>
          </a:bodyPr>
          <a:lstStyle/>
          <a:p>
            <a:pPr algn="ctr" indent="0" marL="0">
              <a:buNone/>
            </a:pPr>
            <a:r>
              <a:rPr lang="en-US" sz="820" b="1" dirty="0">
                <a:solidFill>
                  <a:srgbClr val="334155"/>
                </a:solidFill>
                <a:latin typeface="Arial" pitchFamily="34" charset="0"/>
                <a:ea typeface="Arial" pitchFamily="34" charset="-122"/>
                <a:cs typeface="Arial" pitchFamily="34" charset="-120"/>
              </a:rPr>
              <a:t>React · TypeScript · Vite</a:t>
            </a:r>
            <a:endParaRPr lang="en-US" sz="820" dirty="0"/>
          </a:p>
        </p:txBody>
      </p:sp>
      <p:sp>
        <p:nvSpPr>
          <p:cNvPr id="44" name="Shape 42"/>
          <p:cNvSpPr/>
          <p:nvPr/>
        </p:nvSpPr>
        <p:spPr>
          <a:xfrm>
            <a:off x="3502152" y="5184648"/>
            <a:ext cx="1984248" cy="274320"/>
          </a:xfrm>
          <a:prstGeom prst="roundRect">
            <a:avLst>
              <a:gd name="adj" fmla="val 26667"/>
            </a:avLst>
          </a:prstGeom>
          <a:solidFill>
            <a:srgbClr val="E8F5F1"/>
          </a:solidFill>
          <a:ln w="6350">
            <a:solidFill>
              <a:srgbClr val="E8F5F1"/>
            </a:solidFill>
            <a:prstDash val="solid"/>
          </a:ln>
        </p:spPr>
      </p:sp>
      <p:sp>
        <p:nvSpPr>
          <p:cNvPr id="45" name="Text 43"/>
          <p:cNvSpPr txBox="1"/>
          <p:nvPr/>
        </p:nvSpPr>
        <p:spPr>
          <a:xfrm>
            <a:off x="3593592" y="5193792"/>
            <a:ext cx="1801368" cy="256032"/>
          </a:xfrm>
          <a:prstGeom prst="rect">
            <a:avLst/>
          </a:prstGeom>
          <a:noFill/>
          <a:ln/>
        </p:spPr>
        <p:txBody>
          <a:bodyPr wrap="square" lIns="0" tIns="0" rIns="0" bIns="0" rtlCol="0" anchor="ctr">
            <a:normAutofit/>
          </a:bodyPr>
          <a:lstStyle/>
          <a:p>
            <a:pPr algn="ctr" indent="0" marL="0">
              <a:buNone/>
            </a:pPr>
            <a:r>
              <a:rPr lang="en-US" sz="820" b="1" dirty="0">
                <a:solidFill>
                  <a:srgbClr val="14846F"/>
                </a:solidFill>
                <a:latin typeface="Arial" pitchFamily="34" charset="0"/>
                <a:ea typeface="Arial" pitchFamily="34" charset="-122"/>
                <a:cs typeface="Arial" pitchFamily="34" charset="-120"/>
              </a:rPr>
              <a:t>Gemini + Groq · runtime</a:t>
            </a:r>
            <a:endParaRPr lang="en-US" sz="820" dirty="0"/>
          </a:p>
        </p:txBody>
      </p:sp>
      <p:sp>
        <p:nvSpPr>
          <p:cNvPr id="46" name="Shape 44"/>
          <p:cNvSpPr/>
          <p:nvPr/>
        </p:nvSpPr>
        <p:spPr>
          <a:xfrm>
            <a:off x="3502152" y="5568696"/>
            <a:ext cx="1984248" cy="274320"/>
          </a:xfrm>
          <a:prstGeom prst="roundRect">
            <a:avLst>
              <a:gd name="adj" fmla="val 26667"/>
            </a:avLst>
          </a:prstGeom>
          <a:solidFill>
            <a:srgbClr val="FFF5DE"/>
          </a:solidFill>
          <a:ln w="6350">
            <a:solidFill>
              <a:srgbClr val="FFF5DE"/>
            </a:solidFill>
            <a:prstDash val="solid"/>
          </a:ln>
        </p:spPr>
      </p:sp>
      <p:sp>
        <p:nvSpPr>
          <p:cNvPr id="47" name="Text 45"/>
          <p:cNvSpPr txBox="1"/>
          <p:nvPr/>
        </p:nvSpPr>
        <p:spPr>
          <a:xfrm>
            <a:off x="3593592" y="5577840"/>
            <a:ext cx="1801368" cy="256032"/>
          </a:xfrm>
          <a:prstGeom prst="rect">
            <a:avLst/>
          </a:prstGeom>
          <a:noFill/>
          <a:ln/>
        </p:spPr>
        <p:txBody>
          <a:bodyPr wrap="square" lIns="0" tIns="0" rIns="0" bIns="0" rtlCol="0" anchor="ctr">
            <a:normAutofit/>
          </a:bodyPr>
          <a:lstStyle/>
          <a:p>
            <a:pPr algn="ctr" indent="0" marL="0">
              <a:buNone/>
            </a:pPr>
            <a:r>
              <a:rPr lang="en-US" sz="820" b="1" dirty="0">
                <a:solidFill>
                  <a:srgbClr val="A86B00"/>
                </a:solidFill>
                <a:latin typeface="Arial" pitchFamily="34" charset="0"/>
                <a:ea typeface="Arial" pitchFamily="34" charset="-122"/>
                <a:cs typeface="Arial" pitchFamily="34" charset="-120"/>
              </a:rPr>
              <a:t>No-key deterministic fallback</a:t>
            </a:r>
            <a:endParaRPr lang="en-US" sz="820" dirty="0"/>
          </a:p>
        </p:txBody>
      </p:sp>
      <p:sp>
        <p:nvSpPr>
          <p:cNvPr id="48" name="Shape 46"/>
          <p:cNvSpPr/>
          <p:nvPr/>
        </p:nvSpPr>
        <p:spPr>
          <a:xfrm>
            <a:off x="6062472" y="3822192"/>
            <a:ext cx="5513832" cy="2240280"/>
          </a:xfrm>
          <a:prstGeom prst="roundRect">
            <a:avLst>
              <a:gd name="adj" fmla="val 3265"/>
            </a:avLst>
          </a:prstGeom>
          <a:solidFill>
            <a:srgbClr val="101625"/>
          </a:solidFill>
          <a:ln w="8890">
            <a:solidFill>
              <a:srgbClr val="101625"/>
            </a:solidFill>
            <a:prstDash val="solid"/>
          </a:ln>
        </p:spPr>
      </p:sp>
      <p:sp>
        <p:nvSpPr>
          <p:cNvPr id="49" name="Text 47"/>
          <p:cNvSpPr txBox="1"/>
          <p:nvPr/>
        </p:nvSpPr>
        <p:spPr>
          <a:xfrm>
            <a:off x="6345936" y="4069080"/>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8EA1FF"/>
                </a:solidFill>
                <a:latin typeface="Arial" pitchFamily="34" charset="0"/>
                <a:ea typeface="Arial" pitchFamily="34" charset="-122"/>
                <a:cs typeface="Arial" pitchFamily="34" charset="-120"/>
              </a:rPr>
              <a:t>DRAFT PROMPT EXCERPT</a:t>
            </a:r>
            <a:endParaRPr lang="en-US" sz="950" dirty="0"/>
          </a:p>
        </p:txBody>
      </p:sp>
      <p:sp>
        <p:nvSpPr>
          <p:cNvPr id="50" name="Text 48"/>
          <p:cNvSpPr txBox="1"/>
          <p:nvPr/>
        </p:nvSpPr>
        <p:spPr>
          <a:xfrm>
            <a:off x="6345936" y="4416552"/>
            <a:ext cx="4645152" cy="1078992"/>
          </a:xfrm>
          <a:prstGeom prst="rect">
            <a:avLst/>
          </a:prstGeom>
          <a:noFill/>
          <a:ln/>
        </p:spPr>
        <p:txBody>
          <a:bodyPr wrap="square" lIns="0" tIns="0" rIns="0" bIns="0" rtlCol="0" anchor="t">
            <a:normAutofit/>
          </a:bodyPr>
          <a:lstStyle/>
          <a:p>
            <a:pPr algn="l" indent="0" marL="0">
              <a:lnSpc>
                <a:spcPct val="105000"/>
              </a:lnSpc>
              <a:buNone/>
            </a:pPr>
            <a:r>
              <a:rPr lang="en-US" sz="1300" dirty="0">
                <a:solidFill>
                  <a:srgbClr val="FFFFFF"/>
                </a:solidFill>
                <a:latin typeface="Arial" pitchFamily="34" charset="0"/>
                <a:ea typeface="Arial" pitchFamily="34" charset="-122"/>
                <a:cs typeface="Arial" pitchFamily="34" charset="-120"/>
              </a:rPr>
              <a:t>“Use only supplied EVIDENCE.</a:t>
            </a:r>
            <a:endParaRPr lang="en-US" sz="1300" dirty="0"/>
          </a:p>
          <a:p>
            <a:pPr algn="l" indent="0" marL="0">
              <a:lnSpc>
                <a:spcPct val="105000"/>
              </a:lnSpc>
              <a:buNone/>
            </a:pPr>
            <a:r>
              <a:rPr lang="en-US" sz="1300" dirty="0">
                <a:solidFill>
                  <a:srgbClr val="FFFFFF"/>
                </a:solidFill>
                <a:latin typeface="Arial" pitchFamily="34" charset="0"/>
                <a:ea typeface="Arial" pitchFamily="34" charset="-122"/>
                <a:cs typeface="Arial" pitchFamily="34" charset="-120"/>
              </a:rPr>
              <a:t>Every claim cites evidenceIds.</a:t>
            </a:r>
            <a:endParaRPr lang="en-US" sz="1300" dirty="0"/>
          </a:p>
          <a:p>
            <a:pPr algn="l" indent="0" marL="0">
              <a:lnSpc>
                <a:spcPct val="105000"/>
              </a:lnSpc>
              <a:buNone/>
            </a:pPr>
            <a:r>
              <a:rPr lang="en-US" sz="1300" dirty="0">
                <a:solidFill>
                  <a:srgbClr val="FFFFFF"/>
                </a:solidFill>
                <a:latin typeface="Arial" pitchFamily="34" charset="0"/>
                <a:ea typeface="Arial" pitchFamily="34" charset="-122"/>
                <a:cs typeface="Arial" pitchFamily="34" charset="-120"/>
              </a:rPr>
              <a:t>Never state a number absent from cited evidence.</a:t>
            </a:r>
            <a:endParaRPr lang="en-US" sz="1300" dirty="0"/>
          </a:p>
          <a:p>
            <a:pPr algn="l" indent="0" marL="0">
              <a:lnSpc>
                <a:spcPct val="105000"/>
              </a:lnSpc>
              <a:buNone/>
            </a:pPr>
            <a:r>
              <a:rPr lang="en-US" sz="1300" dirty="0">
                <a:solidFill>
                  <a:srgbClr val="FFFFFF"/>
                </a:solidFill>
                <a:latin typeface="Arial" pitchFamily="34" charset="0"/>
                <a:ea typeface="Arial" pitchFamily="34" charset="-122"/>
                <a:cs typeface="Arial" pitchFamily="34" charset="-120"/>
              </a:rPr>
              <a:t>Respond only with JSON.”</a:t>
            </a:r>
            <a:endParaRPr lang="en-US" sz="1300" dirty="0"/>
          </a:p>
        </p:txBody>
      </p:sp>
      <p:sp>
        <p:nvSpPr>
          <p:cNvPr id="51" name="Text 49"/>
          <p:cNvSpPr txBox="1"/>
          <p:nvPr/>
        </p:nvSpPr>
        <p:spPr>
          <a:xfrm>
            <a:off x="6345936" y="5559552"/>
            <a:ext cx="4663440" cy="283464"/>
          </a:xfrm>
          <a:prstGeom prst="rect">
            <a:avLst/>
          </a:prstGeom>
          <a:noFill/>
          <a:ln/>
        </p:spPr>
        <p:txBody>
          <a:bodyPr wrap="square" lIns="0" tIns="0" rIns="0" bIns="0" rtlCol="0" anchor="t">
            <a:normAutofit/>
          </a:bodyPr>
          <a:lstStyle/>
          <a:p>
            <a:pPr algn="l" indent="0" marL="0">
              <a:buNone/>
            </a:pPr>
            <a:r>
              <a:rPr lang="en-US" sz="840" i="1" dirty="0">
                <a:solidFill>
                  <a:srgbClr val="B8C1D8"/>
                </a:solidFill>
                <a:latin typeface="Arial" pitchFamily="34" charset="0"/>
                <a:ea typeface="Arial" pitchFamily="34" charset="-122"/>
                <a:cs typeface="Arial" pitchFamily="34" charset="-120"/>
              </a:rPr>
              <a:t>Model choice: free-tier availability, speed, and provider independence, not a claim that these models are universally best.</a:t>
            </a:r>
            <a:endParaRPr lang="en-US" sz="840" dirty="0"/>
          </a:p>
        </p:txBody>
      </p:sp>
      <p:sp>
        <p:nvSpPr>
          <p:cNvPr id="52" name="Shape 50"/>
          <p:cNvSpPr/>
          <p:nvPr/>
        </p:nvSpPr>
        <p:spPr>
          <a:xfrm>
            <a:off x="621792" y="6556248"/>
            <a:ext cx="10945368" cy="0"/>
          </a:xfrm>
          <a:prstGeom prst="line">
            <a:avLst/>
          </a:prstGeom>
          <a:noFill/>
          <a:ln w="7620">
            <a:solidFill>
              <a:srgbClr val="DCE3ED"/>
            </a:solidFill>
            <a:prstDash val="solid"/>
          </a:ln>
        </p:spPr>
      </p:sp>
      <p:sp>
        <p:nvSpPr>
          <p:cNvPr id="53" name="Text 51"/>
          <p:cNvSpPr txBox="1"/>
          <p:nvPr/>
        </p:nvSpPr>
        <p:spPr>
          <a:xfrm>
            <a:off x="621792" y="6592824"/>
            <a:ext cx="9966960" cy="146304"/>
          </a:xfrm>
          <a:prstGeom prst="rect">
            <a:avLst/>
          </a:prstGeom>
          <a:noFill/>
          <a:ln/>
        </p:spPr>
        <p:txBody>
          <a:bodyPr wrap="square" lIns="0" tIns="0" rIns="0" bIns="0" rtlCol="0" anchor="t">
            <a:normAutofit/>
          </a:bodyPr>
          <a:lstStyle/>
          <a:p>
            <a:pPr algn="l" indent="0" marL="0">
              <a:buNone/>
            </a:pPr>
            <a:r>
              <a:rPr lang="en-US" sz="780" dirty="0">
                <a:solidFill>
                  <a:srgbClr val="94A3B8"/>
                </a:solidFill>
                <a:latin typeface="Arial" pitchFamily="34" charset="0"/>
                <a:ea typeface="Arial" pitchFamily="34" charset="-122"/>
                <a:cs typeface="Arial" pitchFamily="34" charset="-120"/>
              </a:rPr>
              <a:t>Required sources: CSV + CRM text + Markdown KB · public enrichment is best-effort · model keys optional</a:t>
            </a:r>
            <a:endParaRPr lang="en-US" sz="780" dirty="0"/>
          </a:p>
        </p:txBody>
      </p:sp>
      <p:sp>
        <p:nvSpPr>
          <p:cNvPr id="54" name="Text 52"/>
          <p:cNvSpPr txBox="1"/>
          <p:nvPr/>
        </p:nvSpPr>
        <p:spPr>
          <a:xfrm>
            <a:off x="11109960" y="6574536"/>
            <a:ext cx="457200" cy="164592"/>
          </a:xfrm>
          <a:prstGeom prst="rect">
            <a:avLst/>
          </a:prstGeom>
          <a:noFill/>
          <a:ln/>
        </p:spPr>
        <p:txBody>
          <a:bodyPr wrap="square" lIns="0" tIns="0" rIns="0" bIns="0" rtlCol="0" anchor="t">
            <a:normAutofit/>
          </a:bodyPr>
          <a:lstStyle/>
          <a:p>
            <a:pPr algn="r" indent="0" marL="0">
              <a:buNone/>
            </a:pPr>
            <a:r>
              <a:rPr lang="en-US" sz="850" b="1" dirty="0">
                <a:solidFill>
                  <a:srgbClr val="94A3B8"/>
                </a:solidFill>
                <a:latin typeface="Arial" pitchFamily="34" charset="0"/>
                <a:ea typeface="Arial" pitchFamily="34" charset="-122"/>
                <a:cs typeface="Arial"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txBox="1"/>
          <p:nvPr/>
        </p:nvSpPr>
        <p:spPr>
          <a:xfrm>
            <a:off x="621792" y="301752"/>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3157F6"/>
                </a:solidFill>
                <a:latin typeface="Arial" pitchFamily="34" charset="0"/>
                <a:ea typeface="Arial" pitchFamily="34" charset="-122"/>
                <a:cs typeface="Arial" pitchFamily="34" charset="-120"/>
              </a:rPr>
              <a:t>TEMPUS SALES COPILOT · CASE STUDY</a:t>
            </a:r>
            <a:endParaRPr lang="en-US" sz="950" dirty="0"/>
          </a:p>
        </p:txBody>
      </p:sp>
      <p:sp>
        <p:nvSpPr>
          <p:cNvPr id="3" name="Text 1"/>
          <p:cNvSpPr txBox="1"/>
          <p:nvPr/>
        </p:nvSpPr>
        <p:spPr>
          <a:xfrm>
            <a:off x="621792" y="566928"/>
            <a:ext cx="10972800" cy="502920"/>
          </a:xfrm>
          <a:prstGeom prst="rect">
            <a:avLst/>
          </a:prstGeom>
          <a:noFill/>
          <a:ln/>
        </p:spPr>
        <p:txBody>
          <a:bodyPr wrap="square" lIns="0" tIns="0" rIns="0" bIns="0" rtlCol="0" anchor="t">
            <a:normAutofit/>
          </a:bodyPr>
          <a:lstStyle/>
          <a:p>
            <a:pPr algn="l" indent="0" marL="0">
              <a:buNone/>
            </a:pPr>
            <a:r>
              <a:rPr lang="en-US" sz="2700" b="1" dirty="0">
                <a:solidFill>
                  <a:srgbClr val="111827"/>
                </a:solidFill>
                <a:latin typeface="Arial" pitchFamily="34" charset="0"/>
                <a:ea typeface="Arial" pitchFamily="34" charset="-122"/>
                <a:cs typeface="Arial" pitchFamily="34" charset="-120"/>
              </a:rPr>
              <a:t>An explainable score, not an AI hunch.</a:t>
            </a:r>
            <a:endParaRPr lang="en-US" sz="2700" dirty="0"/>
          </a:p>
        </p:txBody>
      </p:sp>
      <p:sp>
        <p:nvSpPr>
          <p:cNvPr id="4" name="Text 2"/>
          <p:cNvSpPr txBox="1"/>
          <p:nvPr/>
        </p:nvSpPr>
        <p:spPr>
          <a:xfrm>
            <a:off x="621792" y="1060704"/>
            <a:ext cx="10972800" cy="329184"/>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rial" pitchFamily="34" charset="0"/>
                <a:ea typeface="Arial" pitchFamily="34" charset="-122"/>
                <a:cs typeface="Arial" pitchFamily="34" charset="-120"/>
              </a:rPr>
              <a:t>Priority is a transparent 0–100 index; it is not a conversion probability or clinical-quality score.</a:t>
            </a:r>
            <a:endParaRPr lang="en-US" sz="1350" dirty="0"/>
          </a:p>
        </p:txBody>
      </p:sp>
      <p:sp>
        <p:nvSpPr>
          <p:cNvPr id="5" name="Text 3"/>
          <p:cNvSpPr txBox="1"/>
          <p:nvPr/>
        </p:nvSpPr>
        <p:spPr>
          <a:xfrm>
            <a:off x="621792" y="1481328"/>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64748B"/>
                </a:solidFill>
                <a:latin typeface="Arial" pitchFamily="34" charset="0"/>
                <a:ea typeface="Arial" pitchFamily="34" charset="-122"/>
                <a:cs typeface="Arial" pitchFamily="34" charset="-120"/>
              </a:rPr>
              <a:t>WHAT THE REP SEES</a:t>
            </a:r>
            <a:endParaRPr lang="en-US" sz="950" dirty="0"/>
          </a:p>
        </p:txBody>
      </p:sp>
      <p:sp>
        <p:nvSpPr>
          <p:cNvPr id="6" name="Shape 4"/>
          <p:cNvSpPr/>
          <p:nvPr/>
        </p:nvSpPr>
        <p:spPr>
          <a:xfrm>
            <a:off x="585216" y="1773936"/>
            <a:ext cx="7616952" cy="3246120"/>
          </a:xfrm>
          <a:prstGeom prst="roundRect">
            <a:avLst>
              <a:gd name="adj" fmla="val 2254"/>
            </a:avLst>
          </a:prstGeom>
          <a:solidFill>
            <a:srgbClr val="FFFFFF"/>
          </a:solidFill>
          <a:ln w="8890">
            <a:solidFill>
              <a:srgbClr val="DCE3ED"/>
            </a:solidFill>
            <a:prstDash val="solid"/>
          </a:ln>
          <a:effectLst>
            <a:outerShdw sx="100000" sy="100000" kx="0" ky="0" algn="bl" rotWithShape="0" blurRad="15240" dist="6350" dir="2700000">
              <a:srgbClr val="000000">
                <a:alpha val="8000"/>
              </a:srgbClr>
            </a:outerShdw>
          </a:effectLst>
        </p:spPr>
      </p:sp>
      <p:pic>
        <p:nvPicPr>
          <p:cNvPr id="7" name="Image 0" descr="Ranked doctor comparison table showing priority, opportunity, weighted drivers, patient estimates, public CMS context, and panel recommendation.">    </p:cNvPr>
          <p:cNvPicPr>
            <a:picLocks noChangeAspect="1"/>
          </p:cNvPicPr>
          <p:nvPr/>
        </p:nvPicPr>
        <p:blipFill>
          <a:blip r:embed="rId1"/>
          <a:srcRect l="0" r="0" t="0" b="0"/>
          <a:stretch/>
        </p:blipFill>
        <p:spPr>
          <a:xfrm>
            <a:off x="621792" y="1810512"/>
            <a:ext cx="7543800" cy="3172968"/>
          </a:xfrm>
          <a:prstGeom prst="rect">
            <a:avLst/>
          </a:prstGeom>
        </p:spPr>
      </p:pic>
      <p:sp>
        <p:nvSpPr>
          <p:cNvPr id="8" name="Shape 5"/>
          <p:cNvSpPr/>
          <p:nvPr/>
        </p:nvSpPr>
        <p:spPr>
          <a:xfrm>
            <a:off x="758952" y="5230368"/>
            <a:ext cx="804672" cy="256032"/>
          </a:xfrm>
          <a:prstGeom prst="roundRect">
            <a:avLst>
              <a:gd name="adj" fmla="val 28571"/>
            </a:avLst>
          </a:prstGeom>
          <a:solidFill>
            <a:srgbClr val="E8F5F1"/>
          </a:solidFill>
          <a:ln w="6350">
            <a:solidFill>
              <a:srgbClr val="E8F5F1"/>
            </a:solidFill>
            <a:prstDash val="solid"/>
          </a:ln>
        </p:spPr>
      </p:sp>
      <p:sp>
        <p:nvSpPr>
          <p:cNvPr id="9" name="Text 6"/>
          <p:cNvSpPr txBox="1"/>
          <p:nvPr/>
        </p:nvSpPr>
        <p:spPr>
          <a:xfrm>
            <a:off x="850392" y="5239512"/>
            <a:ext cx="621792" cy="237744"/>
          </a:xfrm>
          <a:prstGeom prst="rect">
            <a:avLst/>
          </a:prstGeom>
          <a:noFill/>
          <a:ln/>
        </p:spPr>
        <p:txBody>
          <a:bodyPr wrap="square" lIns="0" tIns="0" rIns="0" bIns="0" rtlCol="0" anchor="ctr">
            <a:normAutofit/>
          </a:bodyPr>
          <a:lstStyle/>
          <a:p>
            <a:pPr algn="ctr" indent="0" marL="0">
              <a:buNone/>
            </a:pPr>
            <a:r>
              <a:rPr lang="en-US" sz="790" b="1" dirty="0">
                <a:solidFill>
                  <a:srgbClr val="14846F"/>
                </a:solidFill>
                <a:latin typeface="Arial" pitchFamily="34" charset="0"/>
                <a:ea typeface="Arial" pitchFamily="34" charset="-122"/>
                <a:cs typeface="Arial" pitchFamily="34" charset="-120"/>
              </a:rPr>
              <a:t>MODELED</a:t>
            </a:r>
            <a:endParaRPr lang="en-US" sz="790" dirty="0"/>
          </a:p>
        </p:txBody>
      </p:sp>
      <p:sp>
        <p:nvSpPr>
          <p:cNvPr id="10" name="Text 7"/>
          <p:cNvSpPr txBox="1"/>
          <p:nvPr/>
        </p:nvSpPr>
        <p:spPr>
          <a:xfrm>
            <a:off x="1664208" y="5230368"/>
            <a:ext cx="1572768" cy="219456"/>
          </a:xfrm>
          <a:prstGeom prst="rect">
            <a:avLst/>
          </a:prstGeom>
          <a:noFill/>
          <a:ln/>
        </p:spPr>
        <p:txBody>
          <a:bodyPr wrap="square" lIns="0" tIns="0" rIns="0" bIns="0" rtlCol="0" anchor="t">
            <a:normAutofit/>
          </a:bodyPr>
          <a:lstStyle/>
          <a:p>
            <a:pPr algn="l" indent="0" marL="0">
              <a:buNone/>
            </a:pPr>
            <a:r>
              <a:rPr lang="en-US" sz="850" dirty="0">
                <a:solidFill>
                  <a:srgbClr val="64748B"/>
                </a:solidFill>
                <a:latin typeface="Arial" pitchFamily="34" charset="0"/>
                <a:ea typeface="Arial" pitchFamily="34" charset="-122"/>
                <a:cs typeface="Arial" pitchFamily="34" charset="-120"/>
              </a:rPr>
              <a:t>patient estimates + tumour mix</a:t>
            </a:r>
            <a:endParaRPr lang="en-US" sz="850" dirty="0"/>
          </a:p>
        </p:txBody>
      </p:sp>
      <p:sp>
        <p:nvSpPr>
          <p:cNvPr id="11" name="Shape 8"/>
          <p:cNvSpPr/>
          <p:nvPr/>
        </p:nvSpPr>
        <p:spPr>
          <a:xfrm>
            <a:off x="3355848" y="5230368"/>
            <a:ext cx="713232" cy="256032"/>
          </a:xfrm>
          <a:prstGeom prst="roundRect">
            <a:avLst>
              <a:gd name="adj" fmla="val 28571"/>
            </a:avLst>
          </a:prstGeom>
          <a:solidFill>
            <a:srgbClr val="EEF1FF"/>
          </a:solidFill>
          <a:ln w="6350">
            <a:solidFill>
              <a:srgbClr val="EEF1FF"/>
            </a:solidFill>
            <a:prstDash val="solid"/>
          </a:ln>
        </p:spPr>
      </p:sp>
      <p:sp>
        <p:nvSpPr>
          <p:cNvPr id="12" name="Text 9"/>
          <p:cNvSpPr txBox="1"/>
          <p:nvPr/>
        </p:nvSpPr>
        <p:spPr>
          <a:xfrm>
            <a:off x="3447288" y="5239512"/>
            <a:ext cx="530352" cy="237744"/>
          </a:xfrm>
          <a:prstGeom prst="rect">
            <a:avLst/>
          </a:prstGeom>
          <a:noFill/>
          <a:ln/>
        </p:spPr>
        <p:txBody>
          <a:bodyPr wrap="square" lIns="0" tIns="0" rIns="0" bIns="0" rtlCol="0" anchor="ctr">
            <a:normAutofit/>
          </a:bodyPr>
          <a:lstStyle/>
          <a:p>
            <a:pPr algn="ctr" indent="0" marL="0">
              <a:buNone/>
            </a:pPr>
            <a:r>
              <a:rPr lang="en-US" sz="790" b="1" dirty="0">
                <a:solidFill>
                  <a:srgbClr val="3157F6"/>
                </a:solidFill>
                <a:latin typeface="Arial" pitchFamily="34" charset="0"/>
                <a:ea typeface="Arial" pitchFamily="34" charset="-122"/>
                <a:cs typeface="Arial" pitchFamily="34" charset="-120"/>
              </a:rPr>
              <a:t>PUBLIC</a:t>
            </a:r>
            <a:endParaRPr lang="en-US" sz="790" dirty="0"/>
          </a:p>
        </p:txBody>
      </p:sp>
      <p:sp>
        <p:nvSpPr>
          <p:cNvPr id="13" name="Text 10"/>
          <p:cNvSpPr txBox="1"/>
          <p:nvPr/>
        </p:nvSpPr>
        <p:spPr>
          <a:xfrm>
            <a:off x="4160520" y="5230368"/>
            <a:ext cx="1280160" cy="219456"/>
          </a:xfrm>
          <a:prstGeom prst="rect">
            <a:avLst/>
          </a:prstGeom>
          <a:noFill/>
          <a:ln/>
        </p:spPr>
        <p:txBody>
          <a:bodyPr wrap="square" lIns="0" tIns="0" rIns="0" bIns="0" rtlCol="0" anchor="t">
            <a:normAutofit/>
          </a:bodyPr>
          <a:lstStyle/>
          <a:p>
            <a:pPr algn="l" indent="0" marL="0">
              <a:buNone/>
            </a:pPr>
            <a:r>
              <a:rPr lang="en-US" sz="850" dirty="0">
                <a:solidFill>
                  <a:srgbClr val="64748B"/>
                </a:solidFill>
                <a:latin typeface="Arial" pitchFamily="34" charset="0"/>
                <a:ea typeface="Arial" pitchFamily="34" charset="-122"/>
                <a:cs typeface="Arial" pitchFamily="34" charset="-120"/>
              </a:rPr>
              <a:t>NPPES · CMS · trials</a:t>
            </a:r>
            <a:endParaRPr lang="en-US" sz="850" dirty="0"/>
          </a:p>
        </p:txBody>
      </p:sp>
      <p:sp>
        <p:nvSpPr>
          <p:cNvPr id="14" name="Shape 11"/>
          <p:cNvSpPr/>
          <p:nvPr/>
        </p:nvSpPr>
        <p:spPr>
          <a:xfrm>
            <a:off x="5577840" y="5230368"/>
            <a:ext cx="932688" cy="256032"/>
          </a:xfrm>
          <a:prstGeom prst="roundRect">
            <a:avLst>
              <a:gd name="adj" fmla="val 28571"/>
            </a:avLst>
          </a:prstGeom>
          <a:solidFill>
            <a:srgbClr val="FFF5DE"/>
          </a:solidFill>
          <a:ln w="6350">
            <a:solidFill>
              <a:srgbClr val="FFF5DE"/>
            </a:solidFill>
            <a:prstDash val="solid"/>
          </a:ln>
        </p:spPr>
      </p:sp>
      <p:sp>
        <p:nvSpPr>
          <p:cNvPr id="15" name="Text 12"/>
          <p:cNvSpPr txBox="1"/>
          <p:nvPr/>
        </p:nvSpPr>
        <p:spPr>
          <a:xfrm>
            <a:off x="5669280" y="5239512"/>
            <a:ext cx="749808" cy="237744"/>
          </a:xfrm>
          <a:prstGeom prst="rect">
            <a:avLst/>
          </a:prstGeom>
          <a:noFill/>
          <a:ln/>
        </p:spPr>
        <p:txBody>
          <a:bodyPr wrap="square" lIns="0" tIns="0" rIns="0" bIns="0" rtlCol="0" anchor="ctr">
            <a:normAutofit/>
          </a:bodyPr>
          <a:lstStyle/>
          <a:p>
            <a:pPr algn="ctr" indent="0" marL="0">
              <a:buNone/>
            </a:pPr>
            <a:r>
              <a:rPr lang="en-US" sz="790" b="1" dirty="0">
                <a:solidFill>
                  <a:srgbClr val="A86B00"/>
                </a:solidFill>
                <a:latin typeface="Arial" pitchFamily="34" charset="0"/>
                <a:ea typeface="Arial" pitchFamily="34" charset="-122"/>
                <a:cs typeface="Arial" pitchFamily="34" charset="-120"/>
              </a:rPr>
              <a:t>SIMULATED</a:t>
            </a:r>
            <a:endParaRPr lang="en-US" sz="790" dirty="0"/>
          </a:p>
        </p:txBody>
      </p:sp>
      <p:sp>
        <p:nvSpPr>
          <p:cNvPr id="16" name="Text 13"/>
          <p:cNvSpPr txBox="1"/>
          <p:nvPr/>
        </p:nvSpPr>
        <p:spPr>
          <a:xfrm>
            <a:off x="6611112" y="5230368"/>
            <a:ext cx="749808" cy="219456"/>
          </a:xfrm>
          <a:prstGeom prst="rect">
            <a:avLst/>
          </a:prstGeom>
          <a:noFill/>
          <a:ln/>
        </p:spPr>
        <p:txBody>
          <a:bodyPr wrap="square" lIns="0" tIns="0" rIns="0" bIns="0" rtlCol="0" anchor="t">
            <a:normAutofit/>
          </a:bodyPr>
          <a:lstStyle/>
          <a:p>
            <a:pPr algn="l" indent="0" marL="0">
              <a:buNone/>
            </a:pPr>
            <a:r>
              <a:rPr lang="en-US" sz="850" dirty="0">
                <a:solidFill>
                  <a:srgbClr val="64748B"/>
                </a:solidFill>
                <a:latin typeface="Arial" pitchFamily="34" charset="0"/>
                <a:ea typeface="Arial" pitchFamily="34" charset="-122"/>
                <a:cs typeface="Arial" pitchFamily="34" charset="-120"/>
              </a:rPr>
              <a:t>CRM notes</a:t>
            </a:r>
            <a:endParaRPr lang="en-US" sz="850" dirty="0"/>
          </a:p>
        </p:txBody>
      </p:sp>
      <p:sp>
        <p:nvSpPr>
          <p:cNvPr id="17" name="Shape 14"/>
          <p:cNvSpPr/>
          <p:nvPr/>
        </p:nvSpPr>
        <p:spPr>
          <a:xfrm>
            <a:off x="8430768" y="1444752"/>
            <a:ext cx="3136392" cy="4480560"/>
          </a:xfrm>
          <a:prstGeom prst="roundRect">
            <a:avLst>
              <a:gd name="adj" fmla="val 2332"/>
            </a:avLst>
          </a:prstGeom>
          <a:solidFill>
            <a:srgbClr val="FFFFFF"/>
          </a:solidFill>
          <a:ln w="8890">
            <a:solidFill>
              <a:srgbClr val="DCE3ED"/>
            </a:solidFill>
            <a:prstDash val="solid"/>
          </a:ln>
        </p:spPr>
      </p:sp>
      <p:sp>
        <p:nvSpPr>
          <p:cNvPr id="18" name="Text 15"/>
          <p:cNvSpPr txBox="1"/>
          <p:nvPr/>
        </p:nvSpPr>
        <p:spPr>
          <a:xfrm>
            <a:off x="8705088" y="1728216"/>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3157F6"/>
                </a:solidFill>
                <a:latin typeface="Arial" pitchFamily="34" charset="0"/>
                <a:ea typeface="Arial" pitchFamily="34" charset="-122"/>
                <a:cs typeface="Arial" pitchFamily="34" charset="-120"/>
              </a:rPr>
              <a:t>V1 POLICY WEIGHTS</a:t>
            </a:r>
            <a:endParaRPr lang="en-US" sz="950" dirty="0"/>
          </a:p>
        </p:txBody>
      </p:sp>
      <p:sp>
        <p:nvSpPr>
          <p:cNvPr id="19" name="Text 16"/>
          <p:cNvSpPr txBox="1"/>
          <p:nvPr/>
        </p:nvSpPr>
        <p:spPr>
          <a:xfrm>
            <a:off x="8686800" y="2148840"/>
            <a:ext cx="393192" cy="228600"/>
          </a:xfrm>
          <a:prstGeom prst="rect">
            <a:avLst/>
          </a:prstGeom>
          <a:noFill/>
          <a:ln/>
        </p:spPr>
        <p:txBody>
          <a:bodyPr wrap="square" lIns="0" tIns="0" rIns="0" bIns="0" rtlCol="0" anchor="t">
            <a:normAutofit/>
          </a:bodyPr>
          <a:lstStyle/>
          <a:p>
            <a:pPr algn="r" indent="0" marL="0">
              <a:buNone/>
            </a:pPr>
            <a:r>
              <a:rPr lang="en-US" sz="1300" b="1" dirty="0">
                <a:solidFill>
                  <a:srgbClr val="3157F6"/>
                </a:solidFill>
                <a:latin typeface="Arial" pitchFamily="34" charset="0"/>
                <a:ea typeface="Arial" pitchFamily="34" charset="-122"/>
                <a:cs typeface="Arial" pitchFamily="34" charset="-120"/>
              </a:rPr>
              <a:t>32</a:t>
            </a:r>
            <a:endParaRPr lang="en-US" sz="1300" dirty="0"/>
          </a:p>
        </p:txBody>
      </p:sp>
      <p:sp>
        <p:nvSpPr>
          <p:cNvPr id="20" name="Text 17"/>
          <p:cNvSpPr txBox="1"/>
          <p:nvPr/>
        </p:nvSpPr>
        <p:spPr>
          <a:xfrm>
            <a:off x="9217152" y="2148840"/>
            <a:ext cx="941832" cy="228600"/>
          </a:xfrm>
          <a:prstGeom prst="rect">
            <a:avLst/>
          </a:prstGeom>
          <a:noFill/>
          <a:ln/>
        </p:spPr>
        <p:txBody>
          <a:bodyPr wrap="square" lIns="0" tIns="0" rIns="0" bIns="0" rtlCol="0" anchor="t">
            <a:normAutofit/>
          </a:bodyPr>
          <a:lstStyle/>
          <a:p>
            <a:pPr algn="l" indent="0" marL="0">
              <a:buNone/>
            </a:pPr>
            <a:r>
              <a:rPr lang="en-US" sz="1020" dirty="0">
                <a:solidFill>
                  <a:srgbClr val="334155"/>
                </a:solidFill>
                <a:latin typeface="Arial" pitchFamily="34" charset="0"/>
                <a:ea typeface="Arial" pitchFamily="34" charset="-122"/>
                <a:cs typeface="Arial" pitchFamily="34" charset="-120"/>
              </a:rPr>
              <a:t>Opportunity</a:t>
            </a:r>
            <a:endParaRPr lang="en-US" sz="1020" dirty="0"/>
          </a:p>
        </p:txBody>
      </p:sp>
      <p:sp>
        <p:nvSpPr>
          <p:cNvPr id="21" name="Shape 18"/>
          <p:cNvSpPr/>
          <p:nvPr/>
        </p:nvSpPr>
        <p:spPr>
          <a:xfrm>
            <a:off x="10149840" y="2185416"/>
            <a:ext cx="1078992" cy="100584"/>
          </a:xfrm>
          <a:prstGeom prst="roundRect">
            <a:avLst>
              <a:gd name="adj" fmla="val 45455"/>
            </a:avLst>
          </a:prstGeom>
          <a:solidFill>
            <a:srgbClr val="E8ECF3"/>
          </a:solidFill>
          <a:ln w="12700">
            <a:solidFill>
              <a:srgbClr val="E8ECF3"/>
            </a:solidFill>
            <a:prstDash val="solid"/>
          </a:ln>
        </p:spPr>
      </p:sp>
      <p:sp>
        <p:nvSpPr>
          <p:cNvPr id="22" name="Shape 19"/>
          <p:cNvSpPr/>
          <p:nvPr/>
        </p:nvSpPr>
        <p:spPr>
          <a:xfrm>
            <a:off x="10149840" y="2185416"/>
            <a:ext cx="1078992" cy="100584"/>
          </a:xfrm>
          <a:prstGeom prst="roundRect">
            <a:avLst>
              <a:gd name="adj" fmla="val 45455"/>
            </a:avLst>
          </a:prstGeom>
          <a:solidFill>
            <a:srgbClr val="3157F6"/>
          </a:solidFill>
          <a:ln w="12700">
            <a:solidFill>
              <a:srgbClr val="3157F6"/>
            </a:solidFill>
            <a:prstDash val="solid"/>
          </a:ln>
        </p:spPr>
      </p:sp>
      <p:sp>
        <p:nvSpPr>
          <p:cNvPr id="23" name="Text 20"/>
          <p:cNvSpPr txBox="1"/>
          <p:nvPr/>
        </p:nvSpPr>
        <p:spPr>
          <a:xfrm>
            <a:off x="8686800" y="2587752"/>
            <a:ext cx="393192" cy="228600"/>
          </a:xfrm>
          <a:prstGeom prst="rect">
            <a:avLst/>
          </a:prstGeom>
          <a:noFill/>
          <a:ln/>
        </p:spPr>
        <p:txBody>
          <a:bodyPr wrap="square" lIns="0" tIns="0" rIns="0" bIns="0" rtlCol="0" anchor="t">
            <a:normAutofit/>
          </a:bodyPr>
          <a:lstStyle/>
          <a:p>
            <a:pPr algn="r" indent="0" marL="0">
              <a:buNone/>
            </a:pPr>
            <a:r>
              <a:rPr lang="en-US" sz="1300" b="1" dirty="0">
                <a:solidFill>
                  <a:srgbClr val="14846F"/>
                </a:solidFill>
                <a:latin typeface="Arial" pitchFamily="34" charset="0"/>
                <a:ea typeface="Arial" pitchFamily="34" charset="-122"/>
                <a:cs typeface="Arial" pitchFamily="34" charset="-120"/>
              </a:rPr>
              <a:t>20</a:t>
            </a:r>
            <a:endParaRPr lang="en-US" sz="1300" dirty="0"/>
          </a:p>
        </p:txBody>
      </p:sp>
      <p:sp>
        <p:nvSpPr>
          <p:cNvPr id="24" name="Text 21"/>
          <p:cNvSpPr txBox="1"/>
          <p:nvPr/>
        </p:nvSpPr>
        <p:spPr>
          <a:xfrm>
            <a:off x="9217152" y="2587752"/>
            <a:ext cx="941832" cy="228600"/>
          </a:xfrm>
          <a:prstGeom prst="rect">
            <a:avLst/>
          </a:prstGeom>
          <a:noFill/>
          <a:ln/>
        </p:spPr>
        <p:txBody>
          <a:bodyPr wrap="square" lIns="0" tIns="0" rIns="0" bIns="0" rtlCol="0" anchor="t">
            <a:normAutofit/>
          </a:bodyPr>
          <a:lstStyle/>
          <a:p>
            <a:pPr algn="l" indent="0" marL="0">
              <a:buNone/>
            </a:pPr>
            <a:r>
              <a:rPr lang="en-US" sz="1020" dirty="0">
                <a:solidFill>
                  <a:srgbClr val="334155"/>
                </a:solidFill>
                <a:latin typeface="Arial" pitchFamily="34" charset="0"/>
                <a:ea typeface="Arial" pitchFamily="34" charset="-122"/>
                <a:cs typeface="Arial" pitchFamily="34" charset="-120"/>
              </a:rPr>
              <a:t>Identity</a:t>
            </a:r>
            <a:endParaRPr lang="en-US" sz="1020" dirty="0"/>
          </a:p>
        </p:txBody>
      </p:sp>
      <p:sp>
        <p:nvSpPr>
          <p:cNvPr id="25" name="Shape 22"/>
          <p:cNvSpPr/>
          <p:nvPr/>
        </p:nvSpPr>
        <p:spPr>
          <a:xfrm>
            <a:off x="10149840" y="2624328"/>
            <a:ext cx="1078992" cy="100584"/>
          </a:xfrm>
          <a:prstGeom prst="roundRect">
            <a:avLst>
              <a:gd name="adj" fmla="val 45455"/>
            </a:avLst>
          </a:prstGeom>
          <a:solidFill>
            <a:srgbClr val="E8ECF3"/>
          </a:solidFill>
          <a:ln w="12700">
            <a:solidFill>
              <a:srgbClr val="E8ECF3"/>
            </a:solidFill>
            <a:prstDash val="solid"/>
          </a:ln>
        </p:spPr>
      </p:sp>
      <p:sp>
        <p:nvSpPr>
          <p:cNvPr id="26" name="Shape 23"/>
          <p:cNvSpPr/>
          <p:nvPr/>
        </p:nvSpPr>
        <p:spPr>
          <a:xfrm>
            <a:off x="10149840" y="2624328"/>
            <a:ext cx="674370" cy="100584"/>
          </a:xfrm>
          <a:prstGeom prst="roundRect">
            <a:avLst>
              <a:gd name="adj" fmla="val 45455"/>
            </a:avLst>
          </a:prstGeom>
          <a:solidFill>
            <a:srgbClr val="14846F"/>
          </a:solidFill>
          <a:ln w="12700">
            <a:solidFill>
              <a:srgbClr val="14846F"/>
            </a:solidFill>
            <a:prstDash val="solid"/>
          </a:ln>
        </p:spPr>
      </p:sp>
      <p:sp>
        <p:nvSpPr>
          <p:cNvPr id="27" name="Text 24"/>
          <p:cNvSpPr txBox="1"/>
          <p:nvPr/>
        </p:nvSpPr>
        <p:spPr>
          <a:xfrm>
            <a:off x="8686800" y="3026664"/>
            <a:ext cx="393192" cy="228600"/>
          </a:xfrm>
          <a:prstGeom prst="rect">
            <a:avLst/>
          </a:prstGeom>
          <a:noFill/>
          <a:ln/>
        </p:spPr>
        <p:txBody>
          <a:bodyPr wrap="square" lIns="0" tIns="0" rIns="0" bIns="0" rtlCol="0" anchor="t">
            <a:normAutofit/>
          </a:bodyPr>
          <a:lstStyle/>
          <a:p>
            <a:pPr algn="r" indent="0" marL="0">
              <a:buNone/>
            </a:pPr>
            <a:r>
              <a:rPr lang="en-US" sz="1300" b="1" dirty="0">
                <a:solidFill>
                  <a:srgbClr val="6C63FF"/>
                </a:solidFill>
                <a:latin typeface="Arial" pitchFamily="34" charset="0"/>
                <a:ea typeface="Arial" pitchFamily="34" charset="-122"/>
                <a:cs typeface="Arial" pitchFamily="34" charset="-120"/>
              </a:rPr>
              <a:t>17</a:t>
            </a:r>
            <a:endParaRPr lang="en-US" sz="1300" dirty="0"/>
          </a:p>
        </p:txBody>
      </p:sp>
      <p:sp>
        <p:nvSpPr>
          <p:cNvPr id="28" name="Text 25"/>
          <p:cNvSpPr txBox="1"/>
          <p:nvPr/>
        </p:nvSpPr>
        <p:spPr>
          <a:xfrm>
            <a:off x="9217152" y="3026664"/>
            <a:ext cx="941832" cy="228600"/>
          </a:xfrm>
          <a:prstGeom prst="rect">
            <a:avLst/>
          </a:prstGeom>
          <a:noFill/>
          <a:ln/>
        </p:spPr>
        <p:txBody>
          <a:bodyPr wrap="square" lIns="0" tIns="0" rIns="0" bIns="0" rtlCol="0" anchor="t">
            <a:normAutofit/>
          </a:bodyPr>
          <a:lstStyle/>
          <a:p>
            <a:pPr algn="l" indent="0" marL="0">
              <a:buNone/>
            </a:pPr>
            <a:r>
              <a:rPr lang="en-US" sz="1020" dirty="0">
                <a:solidFill>
                  <a:srgbClr val="334155"/>
                </a:solidFill>
                <a:latin typeface="Arial" pitchFamily="34" charset="0"/>
                <a:ea typeface="Arial" pitchFamily="34" charset="-122"/>
                <a:cs typeface="Arial" pitchFamily="34" charset="-120"/>
              </a:rPr>
              <a:t>Panel fit</a:t>
            </a:r>
            <a:endParaRPr lang="en-US" sz="1020" dirty="0"/>
          </a:p>
        </p:txBody>
      </p:sp>
      <p:sp>
        <p:nvSpPr>
          <p:cNvPr id="29" name="Shape 26"/>
          <p:cNvSpPr/>
          <p:nvPr/>
        </p:nvSpPr>
        <p:spPr>
          <a:xfrm>
            <a:off x="10149840" y="3063240"/>
            <a:ext cx="1078992" cy="100584"/>
          </a:xfrm>
          <a:prstGeom prst="roundRect">
            <a:avLst>
              <a:gd name="adj" fmla="val 45455"/>
            </a:avLst>
          </a:prstGeom>
          <a:solidFill>
            <a:srgbClr val="E8ECF3"/>
          </a:solidFill>
          <a:ln w="12700">
            <a:solidFill>
              <a:srgbClr val="E8ECF3"/>
            </a:solidFill>
            <a:prstDash val="solid"/>
          </a:ln>
        </p:spPr>
      </p:sp>
      <p:sp>
        <p:nvSpPr>
          <p:cNvPr id="30" name="Shape 27"/>
          <p:cNvSpPr/>
          <p:nvPr/>
        </p:nvSpPr>
        <p:spPr>
          <a:xfrm>
            <a:off x="10149840" y="3063240"/>
            <a:ext cx="573215" cy="100584"/>
          </a:xfrm>
          <a:prstGeom prst="roundRect">
            <a:avLst>
              <a:gd name="adj" fmla="val 45455"/>
            </a:avLst>
          </a:prstGeom>
          <a:solidFill>
            <a:srgbClr val="6C63FF"/>
          </a:solidFill>
          <a:ln w="12700">
            <a:solidFill>
              <a:srgbClr val="6C63FF"/>
            </a:solidFill>
            <a:prstDash val="solid"/>
          </a:ln>
        </p:spPr>
      </p:sp>
      <p:sp>
        <p:nvSpPr>
          <p:cNvPr id="31" name="Text 28"/>
          <p:cNvSpPr txBox="1"/>
          <p:nvPr/>
        </p:nvSpPr>
        <p:spPr>
          <a:xfrm>
            <a:off x="8686800" y="3465576"/>
            <a:ext cx="393192" cy="228600"/>
          </a:xfrm>
          <a:prstGeom prst="rect">
            <a:avLst/>
          </a:prstGeom>
          <a:noFill/>
          <a:ln/>
        </p:spPr>
        <p:txBody>
          <a:bodyPr wrap="square" lIns="0" tIns="0" rIns="0" bIns="0" rtlCol="0" anchor="t">
            <a:normAutofit/>
          </a:bodyPr>
          <a:lstStyle/>
          <a:p>
            <a:pPr algn="r" indent="0" marL="0">
              <a:buNone/>
            </a:pPr>
            <a:r>
              <a:rPr lang="en-US" sz="1300" b="1" dirty="0">
                <a:solidFill>
                  <a:srgbClr val="A86B00"/>
                </a:solidFill>
                <a:latin typeface="Arial" pitchFamily="34" charset="0"/>
                <a:ea typeface="Arial" pitchFamily="34" charset="-122"/>
                <a:cs typeface="Arial" pitchFamily="34" charset="-120"/>
              </a:rPr>
              <a:t>13</a:t>
            </a:r>
            <a:endParaRPr lang="en-US" sz="1300" dirty="0"/>
          </a:p>
        </p:txBody>
      </p:sp>
      <p:sp>
        <p:nvSpPr>
          <p:cNvPr id="32" name="Text 29"/>
          <p:cNvSpPr txBox="1"/>
          <p:nvPr/>
        </p:nvSpPr>
        <p:spPr>
          <a:xfrm>
            <a:off x="9217152" y="3465576"/>
            <a:ext cx="941832" cy="228600"/>
          </a:xfrm>
          <a:prstGeom prst="rect">
            <a:avLst/>
          </a:prstGeom>
          <a:noFill/>
          <a:ln/>
        </p:spPr>
        <p:txBody>
          <a:bodyPr wrap="square" lIns="0" tIns="0" rIns="0" bIns="0" rtlCol="0" anchor="t">
            <a:normAutofit/>
          </a:bodyPr>
          <a:lstStyle/>
          <a:p>
            <a:pPr algn="l" indent="0" marL="0">
              <a:buNone/>
            </a:pPr>
            <a:r>
              <a:rPr lang="en-US" sz="1020" dirty="0">
                <a:solidFill>
                  <a:srgbClr val="334155"/>
                </a:solidFill>
                <a:latin typeface="Arial" pitchFamily="34" charset="0"/>
                <a:ea typeface="Arial" pitchFamily="34" charset="-122"/>
                <a:cs typeface="Arial" pitchFamily="34" charset="-120"/>
              </a:rPr>
              <a:t>Engagement</a:t>
            </a:r>
            <a:endParaRPr lang="en-US" sz="1020" dirty="0"/>
          </a:p>
        </p:txBody>
      </p:sp>
      <p:sp>
        <p:nvSpPr>
          <p:cNvPr id="33" name="Shape 30"/>
          <p:cNvSpPr/>
          <p:nvPr/>
        </p:nvSpPr>
        <p:spPr>
          <a:xfrm>
            <a:off x="10149840" y="3502152"/>
            <a:ext cx="1078992" cy="100584"/>
          </a:xfrm>
          <a:prstGeom prst="roundRect">
            <a:avLst>
              <a:gd name="adj" fmla="val 45455"/>
            </a:avLst>
          </a:prstGeom>
          <a:solidFill>
            <a:srgbClr val="E8ECF3"/>
          </a:solidFill>
          <a:ln w="12700">
            <a:solidFill>
              <a:srgbClr val="E8ECF3"/>
            </a:solidFill>
            <a:prstDash val="solid"/>
          </a:ln>
        </p:spPr>
      </p:sp>
      <p:sp>
        <p:nvSpPr>
          <p:cNvPr id="34" name="Shape 31"/>
          <p:cNvSpPr/>
          <p:nvPr/>
        </p:nvSpPr>
        <p:spPr>
          <a:xfrm>
            <a:off x="10149840" y="3502152"/>
            <a:ext cx="438341" cy="100584"/>
          </a:xfrm>
          <a:prstGeom prst="roundRect">
            <a:avLst>
              <a:gd name="adj" fmla="val 45455"/>
            </a:avLst>
          </a:prstGeom>
          <a:solidFill>
            <a:srgbClr val="A86B00"/>
          </a:solidFill>
          <a:ln w="12700">
            <a:solidFill>
              <a:srgbClr val="A86B00"/>
            </a:solidFill>
            <a:prstDash val="solid"/>
          </a:ln>
        </p:spPr>
      </p:sp>
      <p:sp>
        <p:nvSpPr>
          <p:cNvPr id="35" name="Text 32"/>
          <p:cNvSpPr txBox="1"/>
          <p:nvPr/>
        </p:nvSpPr>
        <p:spPr>
          <a:xfrm>
            <a:off x="8686800" y="3904488"/>
            <a:ext cx="393192" cy="228600"/>
          </a:xfrm>
          <a:prstGeom prst="rect">
            <a:avLst/>
          </a:prstGeom>
          <a:noFill/>
          <a:ln/>
        </p:spPr>
        <p:txBody>
          <a:bodyPr wrap="square" lIns="0" tIns="0" rIns="0" bIns="0" rtlCol="0" anchor="t">
            <a:normAutofit/>
          </a:bodyPr>
          <a:lstStyle/>
          <a:p>
            <a:pPr algn="r" indent="0" marL="0">
              <a:buNone/>
            </a:pPr>
            <a:r>
              <a:rPr lang="en-US" sz="1300" b="1" dirty="0">
                <a:solidFill>
                  <a:srgbClr val="64748B"/>
                </a:solidFill>
                <a:latin typeface="Arial" pitchFamily="34" charset="0"/>
                <a:ea typeface="Arial" pitchFamily="34" charset="-122"/>
                <a:cs typeface="Arial" pitchFamily="34" charset="-120"/>
              </a:rPr>
              <a:t>10</a:t>
            </a:r>
            <a:endParaRPr lang="en-US" sz="1300" dirty="0"/>
          </a:p>
        </p:txBody>
      </p:sp>
      <p:sp>
        <p:nvSpPr>
          <p:cNvPr id="36" name="Text 33"/>
          <p:cNvSpPr txBox="1"/>
          <p:nvPr/>
        </p:nvSpPr>
        <p:spPr>
          <a:xfrm>
            <a:off x="9217152" y="3904488"/>
            <a:ext cx="941832" cy="228600"/>
          </a:xfrm>
          <a:prstGeom prst="rect">
            <a:avLst/>
          </a:prstGeom>
          <a:noFill/>
          <a:ln/>
        </p:spPr>
        <p:txBody>
          <a:bodyPr wrap="square" lIns="0" tIns="0" rIns="0" bIns="0" rtlCol="0" anchor="t">
            <a:normAutofit/>
          </a:bodyPr>
          <a:lstStyle/>
          <a:p>
            <a:pPr algn="l" indent="0" marL="0">
              <a:buNone/>
            </a:pPr>
            <a:r>
              <a:rPr lang="en-US" sz="1020" dirty="0">
                <a:solidFill>
                  <a:srgbClr val="334155"/>
                </a:solidFill>
                <a:latin typeface="Arial" pitchFamily="34" charset="0"/>
                <a:ea typeface="Arial" pitchFamily="34" charset="-122"/>
                <a:cs typeface="Arial" pitchFamily="34" charset="-120"/>
              </a:rPr>
              <a:t>Freshness</a:t>
            </a:r>
            <a:endParaRPr lang="en-US" sz="1020" dirty="0"/>
          </a:p>
        </p:txBody>
      </p:sp>
      <p:sp>
        <p:nvSpPr>
          <p:cNvPr id="37" name="Shape 34"/>
          <p:cNvSpPr/>
          <p:nvPr/>
        </p:nvSpPr>
        <p:spPr>
          <a:xfrm>
            <a:off x="10149840" y="3941064"/>
            <a:ext cx="1078992" cy="100584"/>
          </a:xfrm>
          <a:prstGeom prst="roundRect">
            <a:avLst>
              <a:gd name="adj" fmla="val 45455"/>
            </a:avLst>
          </a:prstGeom>
          <a:solidFill>
            <a:srgbClr val="E8ECF3"/>
          </a:solidFill>
          <a:ln w="12700">
            <a:solidFill>
              <a:srgbClr val="E8ECF3"/>
            </a:solidFill>
            <a:prstDash val="solid"/>
          </a:ln>
        </p:spPr>
      </p:sp>
      <p:sp>
        <p:nvSpPr>
          <p:cNvPr id="38" name="Shape 35"/>
          <p:cNvSpPr/>
          <p:nvPr/>
        </p:nvSpPr>
        <p:spPr>
          <a:xfrm>
            <a:off x="10149840" y="3941064"/>
            <a:ext cx="337185" cy="100584"/>
          </a:xfrm>
          <a:prstGeom prst="roundRect">
            <a:avLst>
              <a:gd name="adj" fmla="val 45455"/>
            </a:avLst>
          </a:prstGeom>
          <a:solidFill>
            <a:srgbClr val="64748B"/>
          </a:solidFill>
          <a:ln w="12700">
            <a:solidFill>
              <a:srgbClr val="64748B"/>
            </a:solidFill>
            <a:prstDash val="solid"/>
          </a:ln>
        </p:spPr>
      </p:sp>
      <p:sp>
        <p:nvSpPr>
          <p:cNvPr id="39" name="Text 36"/>
          <p:cNvSpPr txBox="1"/>
          <p:nvPr/>
        </p:nvSpPr>
        <p:spPr>
          <a:xfrm>
            <a:off x="8686800" y="4343400"/>
            <a:ext cx="393192" cy="228600"/>
          </a:xfrm>
          <a:prstGeom prst="rect">
            <a:avLst/>
          </a:prstGeom>
          <a:noFill/>
          <a:ln/>
        </p:spPr>
        <p:txBody>
          <a:bodyPr wrap="square" lIns="0" tIns="0" rIns="0" bIns="0" rtlCol="0" anchor="t">
            <a:normAutofit/>
          </a:bodyPr>
          <a:lstStyle/>
          <a:p>
            <a:pPr algn="r" indent="0" marL="0">
              <a:buNone/>
            </a:pPr>
            <a:r>
              <a:rPr lang="en-US" sz="1300" b="1" dirty="0">
                <a:solidFill>
                  <a:srgbClr val="94A3B8"/>
                </a:solidFill>
                <a:latin typeface="Arial" pitchFamily="34" charset="0"/>
                <a:ea typeface="Arial" pitchFamily="34" charset="-122"/>
                <a:cs typeface="Arial" pitchFamily="34" charset="-120"/>
              </a:rPr>
              <a:t>8</a:t>
            </a:r>
            <a:endParaRPr lang="en-US" sz="1300" dirty="0"/>
          </a:p>
        </p:txBody>
      </p:sp>
      <p:sp>
        <p:nvSpPr>
          <p:cNvPr id="40" name="Text 37"/>
          <p:cNvSpPr txBox="1"/>
          <p:nvPr/>
        </p:nvSpPr>
        <p:spPr>
          <a:xfrm>
            <a:off x="9217152" y="4343400"/>
            <a:ext cx="941832" cy="228600"/>
          </a:xfrm>
          <a:prstGeom prst="rect">
            <a:avLst/>
          </a:prstGeom>
          <a:noFill/>
          <a:ln/>
        </p:spPr>
        <p:txBody>
          <a:bodyPr wrap="square" lIns="0" tIns="0" rIns="0" bIns="0" rtlCol="0" anchor="t">
            <a:normAutofit/>
          </a:bodyPr>
          <a:lstStyle/>
          <a:p>
            <a:pPr algn="l" indent="0" marL="0">
              <a:buNone/>
            </a:pPr>
            <a:r>
              <a:rPr lang="en-US" sz="1020" dirty="0">
                <a:solidFill>
                  <a:srgbClr val="334155"/>
                </a:solidFill>
                <a:latin typeface="Arial" pitchFamily="34" charset="0"/>
                <a:ea typeface="Arial" pitchFamily="34" charset="-122"/>
                <a:cs typeface="Arial" pitchFamily="34" charset="-120"/>
              </a:rPr>
              <a:t>Trials</a:t>
            </a:r>
            <a:endParaRPr lang="en-US" sz="1020" dirty="0"/>
          </a:p>
        </p:txBody>
      </p:sp>
      <p:sp>
        <p:nvSpPr>
          <p:cNvPr id="41" name="Shape 38"/>
          <p:cNvSpPr/>
          <p:nvPr/>
        </p:nvSpPr>
        <p:spPr>
          <a:xfrm>
            <a:off x="10149840" y="4379976"/>
            <a:ext cx="1078992" cy="100584"/>
          </a:xfrm>
          <a:prstGeom prst="roundRect">
            <a:avLst>
              <a:gd name="adj" fmla="val 45455"/>
            </a:avLst>
          </a:prstGeom>
          <a:solidFill>
            <a:srgbClr val="E8ECF3"/>
          </a:solidFill>
          <a:ln w="12700">
            <a:solidFill>
              <a:srgbClr val="E8ECF3"/>
            </a:solidFill>
            <a:prstDash val="solid"/>
          </a:ln>
        </p:spPr>
      </p:sp>
      <p:sp>
        <p:nvSpPr>
          <p:cNvPr id="42" name="Shape 39"/>
          <p:cNvSpPr/>
          <p:nvPr/>
        </p:nvSpPr>
        <p:spPr>
          <a:xfrm>
            <a:off x="10149840" y="4379976"/>
            <a:ext cx="269748" cy="100584"/>
          </a:xfrm>
          <a:prstGeom prst="roundRect">
            <a:avLst>
              <a:gd name="adj" fmla="val 45455"/>
            </a:avLst>
          </a:prstGeom>
          <a:solidFill>
            <a:srgbClr val="94A3B8"/>
          </a:solidFill>
          <a:ln w="12700">
            <a:solidFill>
              <a:srgbClr val="94A3B8"/>
            </a:solidFill>
            <a:prstDash val="solid"/>
          </a:ln>
        </p:spPr>
      </p:sp>
      <p:sp>
        <p:nvSpPr>
          <p:cNvPr id="43" name="Shape 40"/>
          <p:cNvSpPr/>
          <p:nvPr/>
        </p:nvSpPr>
        <p:spPr>
          <a:xfrm>
            <a:off x="8705088" y="4892040"/>
            <a:ext cx="2587752" cy="0"/>
          </a:xfrm>
          <a:prstGeom prst="line">
            <a:avLst/>
          </a:prstGeom>
          <a:noFill/>
          <a:ln w="7620">
            <a:solidFill>
              <a:srgbClr val="DCE3ED"/>
            </a:solidFill>
            <a:prstDash val="solid"/>
          </a:ln>
        </p:spPr>
      </p:sp>
      <p:sp>
        <p:nvSpPr>
          <p:cNvPr id="44" name="Text 41"/>
          <p:cNvSpPr txBox="1"/>
          <p:nvPr/>
        </p:nvSpPr>
        <p:spPr>
          <a:xfrm>
            <a:off x="8686800" y="5093208"/>
            <a:ext cx="502920" cy="274320"/>
          </a:xfrm>
          <a:prstGeom prst="rect">
            <a:avLst/>
          </a:prstGeom>
          <a:noFill/>
          <a:ln/>
        </p:spPr>
        <p:txBody>
          <a:bodyPr wrap="square" lIns="0" tIns="0" rIns="0" bIns="0" rtlCol="0" anchor="t">
            <a:normAutofit/>
          </a:bodyPr>
          <a:lstStyle/>
          <a:p>
            <a:pPr algn="l" indent="0" marL="0">
              <a:buNone/>
            </a:pPr>
            <a:r>
              <a:rPr lang="en-US" sz="1700" b="1" dirty="0">
                <a:solidFill>
                  <a:srgbClr val="3157F6"/>
                </a:solidFill>
                <a:latin typeface="Arial" pitchFamily="34" charset="0"/>
                <a:ea typeface="Arial" pitchFamily="34" charset="-122"/>
                <a:cs typeface="Arial" pitchFamily="34" charset="-120"/>
              </a:rPr>
              <a:t>49%</a:t>
            </a:r>
            <a:endParaRPr lang="en-US" sz="1700" dirty="0"/>
          </a:p>
        </p:txBody>
      </p:sp>
      <p:sp>
        <p:nvSpPr>
          <p:cNvPr id="45" name="Text 42"/>
          <p:cNvSpPr txBox="1"/>
          <p:nvPr/>
        </p:nvSpPr>
        <p:spPr>
          <a:xfrm>
            <a:off x="9253728" y="5120640"/>
            <a:ext cx="822960" cy="219456"/>
          </a:xfrm>
          <a:prstGeom prst="rect">
            <a:avLst/>
          </a:prstGeom>
          <a:noFill/>
          <a:ln/>
        </p:spPr>
        <p:txBody>
          <a:bodyPr wrap="square" lIns="0" tIns="0" rIns="0" bIns="0" rtlCol="0" anchor="t">
            <a:normAutofit/>
          </a:bodyPr>
          <a:lstStyle/>
          <a:p>
            <a:pPr algn="l" indent="0" marL="0">
              <a:buNone/>
            </a:pPr>
            <a:r>
              <a:rPr lang="en-US" sz="910" dirty="0">
                <a:solidFill>
                  <a:srgbClr val="64748B"/>
                </a:solidFill>
                <a:latin typeface="Arial" pitchFamily="34" charset="0"/>
                <a:ea typeface="Arial" pitchFamily="34" charset="-122"/>
                <a:cs typeface="Arial" pitchFamily="34" charset="-120"/>
              </a:rPr>
              <a:t>impact + fit</a:t>
            </a:r>
            <a:endParaRPr lang="en-US" sz="910" dirty="0"/>
          </a:p>
        </p:txBody>
      </p:sp>
      <p:sp>
        <p:nvSpPr>
          <p:cNvPr id="46" name="Text 43"/>
          <p:cNvSpPr txBox="1"/>
          <p:nvPr/>
        </p:nvSpPr>
        <p:spPr>
          <a:xfrm>
            <a:off x="10149840" y="5093208"/>
            <a:ext cx="502920" cy="274320"/>
          </a:xfrm>
          <a:prstGeom prst="rect">
            <a:avLst/>
          </a:prstGeom>
          <a:noFill/>
          <a:ln/>
        </p:spPr>
        <p:txBody>
          <a:bodyPr wrap="square" lIns="0" tIns="0" rIns="0" bIns="0" rtlCol="0" anchor="t">
            <a:normAutofit/>
          </a:bodyPr>
          <a:lstStyle/>
          <a:p>
            <a:pPr algn="l" indent="0" marL="0">
              <a:buNone/>
            </a:pPr>
            <a:r>
              <a:rPr lang="en-US" sz="1700" b="1" dirty="0">
                <a:solidFill>
                  <a:srgbClr val="14846F"/>
                </a:solidFill>
                <a:latin typeface="Arial" pitchFamily="34" charset="0"/>
                <a:ea typeface="Arial" pitchFamily="34" charset="-122"/>
                <a:cs typeface="Arial" pitchFamily="34" charset="-120"/>
              </a:rPr>
              <a:t>30%</a:t>
            </a:r>
            <a:endParaRPr lang="en-US" sz="1700" dirty="0"/>
          </a:p>
        </p:txBody>
      </p:sp>
      <p:sp>
        <p:nvSpPr>
          <p:cNvPr id="47" name="Text 44"/>
          <p:cNvSpPr txBox="1"/>
          <p:nvPr/>
        </p:nvSpPr>
        <p:spPr>
          <a:xfrm>
            <a:off x="10716768" y="5120640"/>
            <a:ext cx="457200" cy="219456"/>
          </a:xfrm>
          <a:prstGeom prst="rect">
            <a:avLst/>
          </a:prstGeom>
          <a:noFill/>
          <a:ln/>
        </p:spPr>
        <p:txBody>
          <a:bodyPr wrap="square" lIns="0" tIns="0" rIns="0" bIns="0" rtlCol="0" anchor="t">
            <a:normAutofit/>
          </a:bodyPr>
          <a:lstStyle/>
          <a:p>
            <a:pPr algn="l" indent="0" marL="0">
              <a:buNone/>
            </a:pPr>
            <a:r>
              <a:rPr lang="en-US" sz="910" dirty="0">
                <a:solidFill>
                  <a:srgbClr val="64748B"/>
                </a:solidFill>
                <a:latin typeface="Arial" pitchFamily="34" charset="0"/>
                <a:ea typeface="Arial" pitchFamily="34" charset="-122"/>
                <a:cs typeface="Arial" pitchFamily="34" charset="-120"/>
              </a:rPr>
              <a:t>trust</a:t>
            </a:r>
            <a:endParaRPr lang="en-US" sz="910" dirty="0"/>
          </a:p>
        </p:txBody>
      </p:sp>
      <p:sp>
        <p:nvSpPr>
          <p:cNvPr id="48" name="Text 45"/>
          <p:cNvSpPr txBox="1"/>
          <p:nvPr/>
        </p:nvSpPr>
        <p:spPr>
          <a:xfrm>
            <a:off x="8705088" y="5486400"/>
            <a:ext cx="987552" cy="210312"/>
          </a:xfrm>
          <a:prstGeom prst="rect">
            <a:avLst/>
          </a:prstGeom>
          <a:noFill/>
          <a:ln/>
        </p:spPr>
        <p:txBody>
          <a:bodyPr wrap="square" lIns="0" tIns="0" rIns="0" bIns="0" rtlCol="0" anchor="t">
            <a:normAutofit/>
          </a:bodyPr>
          <a:lstStyle/>
          <a:p>
            <a:pPr algn="l" indent="0" marL="0">
              <a:buNone/>
            </a:pPr>
            <a:r>
              <a:rPr lang="en-US" sz="940" b="1" dirty="0">
                <a:solidFill>
                  <a:srgbClr val="A86B00"/>
                </a:solidFill>
                <a:latin typeface="Arial" pitchFamily="34" charset="0"/>
                <a:ea typeface="Arial" pitchFamily="34" charset="-122"/>
                <a:cs typeface="Arial" pitchFamily="34" charset="-120"/>
              </a:rPr>
              <a:t>21% timing</a:t>
            </a:r>
            <a:endParaRPr lang="en-US" sz="940" dirty="0"/>
          </a:p>
        </p:txBody>
      </p:sp>
      <p:sp>
        <p:nvSpPr>
          <p:cNvPr id="49" name="Text 46"/>
          <p:cNvSpPr txBox="1"/>
          <p:nvPr/>
        </p:nvSpPr>
        <p:spPr>
          <a:xfrm>
            <a:off x="9720072" y="5468112"/>
            <a:ext cx="1481328" cy="320040"/>
          </a:xfrm>
          <a:prstGeom prst="rect">
            <a:avLst/>
          </a:prstGeom>
          <a:noFill/>
          <a:ln/>
        </p:spPr>
        <p:txBody>
          <a:bodyPr wrap="square" lIns="0" tIns="0" rIns="0" bIns="0" rtlCol="0" anchor="t">
            <a:normAutofit/>
          </a:bodyPr>
          <a:lstStyle/>
          <a:p>
            <a:pPr algn="l" indent="0" marL="0">
              <a:buNone/>
            </a:pPr>
            <a:r>
              <a:rPr lang="en-US" sz="820" i="1" dirty="0">
                <a:solidFill>
                  <a:srgbClr val="64748B"/>
                </a:solidFill>
                <a:latin typeface="Arial" pitchFamily="34" charset="0"/>
                <a:ea typeface="Arial" pitchFamily="34" charset="-122"/>
                <a:cs typeface="Arial" pitchFamily="34" charset="-120"/>
              </a:rPr>
              <a:t>Hand-set and tunable because no historical conversion labels were available.</a:t>
            </a:r>
            <a:endParaRPr lang="en-US" sz="820" dirty="0"/>
          </a:p>
        </p:txBody>
      </p:sp>
      <p:sp>
        <p:nvSpPr>
          <p:cNvPr id="50" name="Shape 47"/>
          <p:cNvSpPr/>
          <p:nvPr/>
        </p:nvSpPr>
        <p:spPr>
          <a:xfrm>
            <a:off x="621792" y="6556248"/>
            <a:ext cx="10945368" cy="0"/>
          </a:xfrm>
          <a:prstGeom prst="line">
            <a:avLst/>
          </a:prstGeom>
          <a:noFill/>
          <a:ln w="7620">
            <a:solidFill>
              <a:srgbClr val="DCE3ED"/>
            </a:solidFill>
            <a:prstDash val="solid"/>
          </a:ln>
        </p:spPr>
      </p:sp>
      <p:sp>
        <p:nvSpPr>
          <p:cNvPr id="51" name="Text 48"/>
          <p:cNvSpPr txBox="1"/>
          <p:nvPr/>
        </p:nvSpPr>
        <p:spPr>
          <a:xfrm>
            <a:off x="621792" y="6592824"/>
            <a:ext cx="9966960" cy="146304"/>
          </a:xfrm>
          <a:prstGeom prst="rect">
            <a:avLst/>
          </a:prstGeom>
          <a:noFill/>
          <a:ln/>
        </p:spPr>
        <p:txBody>
          <a:bodyPr wrap="square" lIns="0" tIns="0" rIns="0" bIns="0" rtlCol="0" anchor="t">
            <a:normAutofit/>
          </a:bodyPr>
          <a:lstStyle/>
          <a:p>
            <a:pPr algn="l" indent="0" marL="0">
              <a:buNone/>
            </a:pPr>
            <a:r>
              <a:rPr lang="en-US" sz="780" dirty="0">
                <a:solidFill>
                  <a:srgbClr val="94A3B8"/>
                </a:solidFill>
                <a:latin typeface="Arial" pitchFamily="34" charset="0"/>
                <a:ea typeface="Arial" pitchFamily="34" charset="-122"/>
                <a:cs typeface="Arial" pitchFamily="34" charset="-120"/>
              </a:rPr>
              <a:t>Priority 83 ≠ 83% likelihood · “fit 100” is relative within the loaded cohort · missing signals are not imputed</a:t>
            </a:r>
            <a:endParaRPr lang="en-US" sz="780" dirty="0"/>
          </a:p>
        </p:txBody>
      </p:sp>
      <p:sp>
        <p:nvSpPr>
          <p:cNvPr id="52" name="Text 49"/>
          <p:cNvSpPr txBox="1"/>
          <p:nvPr/>
        </p:nvSpPr>
        <p:spPr>
          <a:xfrm>
            <a:off x="11109960" y="6574536"/>
            <a:ext cx="457200" cy="164592"/>
          </a:xfrm>
          <a:prstGeom prst="rect">
            <a:avLst/>
          </a:prstGeom>
          <a:noFill/>
          <a:ln/>
        </p:spPr>
        <p:txBody>
          <a:bodyPr wrap="square" lIns="0" tIns="0" rIns="0" bIns="0" rtlCol="0" anchor="t">
            <a:normAutofit/>
          </a:bodyPr>
          <a:lstStyle/>
          <a:p>
            <a:pPr algn="r" indent="0" marL="0">
              <a:buNone/>
            </a:pPr>
            <a:r>
              <a:rPr lang="en-US" sz="850" b="1" dirty="0">
                <a:solidFill>
                  <a:srgbClr val="94A3B8"/>
                </a:solidFill>
                <a:latin typeface="Arial" pitchFamily="34" charset="0"/>
                <a:ea typeface="Arial" pitchFamily="34" charset="-122"/>
                <a:cs typeface="Arial"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Text 0"/>
          <p:cNvSpPr txBox="1"/>
          <p:nvPr/>
        </p:nvSpPr>
        <p:spPr>
          <a:xfrm>
            <a:off x="621792" y="301752"/>
            <a:ext cx="5120640" cy="219456"/>
          </a:xfrm>
          <a:prstGeom prst="rect">
            <a:avLst/>
          </a:prstGeom>
          <a:noFill/>
          <a:ln/>
        </p:spPr>
        <p:txBody>
          <a:bodyPr wrap="square" lIns="0" tIns="0" rIns="0" bIns="0" rtlCol="0" anchor="ctr">
            <a:normAutofit/>
          </a:bodyPr>
          <a:lstStyle/>
          <a:p>
            <a:pPr algn="l" indent="0" marL="0">
              <a:buNone/>
            </a:pPr>
            <a:r>
              <a:rPr lang="en-US" sz="950" b="1" spc="180" kern="0" dirty="0">
                <a:solidFill>
                  <a:srgbClr val="3157F6"/>
                </a:solidFill>
                <a:latin typeface="Arial" pitchFamily="34" charset="0"/>
                <a:ea typeface="Arial" pitchFamily="34" charset="-122"/>
                <a:cs typeface="Arial" pitchFamily="34" charset="-120"/>
              </a:rPr>
              <a:t>TEMPUS SALES COPILOT · CASE STUDY</a:t>
            </a:r>
            <a:endParaRPr lang="en-US" sz="950" dirty="0"/>
          </a:p>
        </p:txBody>
      </p:sp>
      <p:sp>
        <p:nvSpPr>
          <p:cNvPr id="3" name="Text 1"/>
          <p:cNvSpPr txBox="1"/>
          <p:nvPr/>
        </p:nvSpPr>
        <p:spPr>
          <a:xfrm>
            <a:off x="621792" y="566928"/>
            <a:ext cx="10972800" cy="502920"/>
          </a:xfrm>
          <a:prstGeom prst="rect">
            <a:avLst/>
          </a:prstGeom>
          <a:noFill/>
          <a:ln/>
        </p:spPr>
        <p:txBody>
          <a:bodyPr wrap="square" lIns="0" tIns="0" rIns="0" bIns="0" rtlCol="0" anchor="t">
            <a:normAutofit/>
          </a:bodyPr>
          <a:lstStyle/>
          <a:p>
            <a:pPr algn="l" indent="0" marL="0">
              <a:buNone/>
            </a:pPr>
            <a:r>
              <a:rPr lang="en-US" sz="2700" b="1" dirty="0">
                <a:solidFill>
                  <a:srgbClr val="111827"/>
                </a:solidFill>
                <a:latin typeface="Arial" pitchFamily="34" charset="0"/>
                <a:ea typeface="Arial" pitchFamily="34" charset="-122"/>
                <a:cs typeface="Arial" pitchFamily="34" charset="-120"/>
              </a:rPr>
              <a:t>Designed to show uncertainty, not hide it.</a:t>
            </a:r>
            <a:endParaRPr lang="en-US" sz="2700" dirty="0"/>
          </a:p>
        </p:txBody>
      </p:sp>
      <p:sp>
        <p:nvSpPr>
          <p:cNvPr id="4" name="Text 2"/>
          <p:cNvSpPr txBox="1"/>
          <p:nvPr/>
        </p:nvSpPr>
        <p:spPr>
          <a:xfrm>
            <a:off x="621792" y="1060704"/>
            <a:ext cx="10972800" cy="329184"/>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rial" pitchFamily="34" charset="0"/>
                <a:ea typeface="Arial" pitchFamily="34" charset="-122"/>
                <a:cs typeface="Arial" pitchFamily="34" charset="-120"/>
              </a:rPr>
              <a:t>The prototype validates control and traceability; commercial lift still requires a real-world pilot.</a:t>
            </a:r>
            <a:endParaRPr lang="en-US" sz="1350" dirty="0"/>
          </a:p>
        </p:txBody>
      </p:sp>
      <p:sp>
        <p:nvSpPr>
          <p:cNvPr id="5" name="Shape 3"/>
          <p:cNvSpPr/>
          <p:nvPr/>
        </p:nvSpPr>
        <p:spPr>
          <a:xfrm>
            <a:off x="585216" y="1298448"/>
            <a:ext cx="11027664" cy="2962656"/>
          </a:xfrm>
          <a:prstGeom prst="roundRect">
            <a:avLst>
              <a:gd name="adj" fmla="val 2469"/>
            </a:avLst>
          </a:prstGeom>
          <a:solidFill>
            <a:srgbClr val="FFFFFF"/>
          </a:solidFill>
          <a:ln w="8890">
            <a:solidFill>
              <a:srgbClr val="DCE3ED"/>
            </a:solidFill>
            <a:prstDash val="solid"/>
          </a:ln>
          <a:effectLst>
            <a:outerShdw sx="100000" sy="100000" kx="0" ky="0" algn="bl" rotWithShape="0" blurRad="15240" dist="6350" dir="2700000">
              <a:srgbClr val="000000">
                <a:alpha val="8000"/>
              </a:srgbClr>
            </a:outerShdw>
          </a:effectLst>
        </p:spPr>
      </p:sp>
      <p:pic>
        <p:nvPicPr>
          <p:cNvPr id="6" name="Image 0" descr="Provider identity and trust strip showing a priority score, verify-before-calling warning, identity confidence, contested fields, verified claims, cited sources, modelled patient estimate, and panel fit.">    </p:cNvPr>
          <p:cNvPicPr>
            <a:picLocks noChangeAspect="1"/>
          </p:cNvPicPr>
          <p:nvPr/>
        </p:nvPicPr>
        <p:blipFill>
          <a:blip r:embed="rId1"/>
          <a:srcRect l="0" r="0" t="0" b="0"/>
          <a:stretch/>
        </p:blipFill>
        <p:spPr>
          <a:xfrm>
            <a:off x="621792" y="1335024"/>
            <a:ext cx="10954512" cy="2889504"/>
          </a:xfrm>
          <a:prstGeom prst="rect">
            <a:avLst/>
          </a:prstGeom>
        </p:spPr>
      </p:pic>
      <p:sp>
        <p:nvSpPr>
          <p:cNvPr id="7" name="Shape 4"/>
          <p:cNvSpPr/>
          <p:nvPr/>
        </p:nvSpPr>
        <p:spPr>
          <a:xfrm>
            <a:off x="621792" y="4471416"/>
            <a:ext cx="3547872" cy="1572768"/>
          </a:xfrm>
          <a:prstGeom prst="roundRect">
            <a:avLst>
              <a:gd name="adj" fmla="val 4651"/>
            </a:avLst>
          </a:prstGeom>
          <a:solidFill>
            <a:srgbClr val="FFFFFF"/>
          </a:solidFill>
          <a:ln w="8890">
            <a:solidFill>
              <a:srgbClr val="DCE3ED"/>
            </a:solidFill>
            <a:prstDash val="solid"/>
          </a:ln>
        </p:spPr>
      </p:sp>
      <p:sp>
        <p:nvSpPr>
          <p:cNvPr id="8" name="Shape 5"/>
          <p:cNvSpPr/>
          <p:nvPr/>
        </p:nvSpPr>
        <p:spPr>
          <a:xfrm>
            <a:off x="804672" y="4636008"/>
            <a:ext cx="1161288" cy="256032"/>
          </a:xfrm>
          <a:prstGeom prst="roundRect">
            <a:avLst>
              <a:gd name="adj" fmla="val 28571"/>
            </a:avLst>
          </a:prstGeom>
          <a:solidFill>
            <a:srgbClr val="E8F5F1"/>
          </a:solidFill>
          <a:ln w="6350">
            <a:solidFill>
              <a:srgbClr val="E8F5F1"/>
            </a:solidFill>
            <a:prstDash val="solid"/>
          </a:ln>
        </p:spPr>
      </p:sp>
      <p:sp>
        <p:nvSpPr>
          <p:cNvPr id="9" name="Text 6"/>
          <p:cNvSpPr txBox="1"/>
          <p:nvPr/>
        </p:nvSpPr>
        <p:spPr>
          <a:xfrm>
            <a:off x="896112" y="4645152"/>
            <a:ext cx="978408" cy="237744"/>
          </a:xfrm>
          <a:prstGeom prst="rect">
            <a:avLst/>
          </a:prstGeom>
          <a:noFill/>
          <a:ln/>
        </p:spPr>
        <p:txBody>
          <a:bodyPr wrap="square" lIns="0" tIns="0" rIns="0" bIns="0" rtlCol="0" anchor="ctr">
            <a:normAutofit/>
          </a:bodyPr>
          <a:lstStyle/>
          <a:p>
            <a:pPr algn="ctr" indent="0" marL="0">
              <a:buNone/>
            </a:pPr>
            <a:r>
              <a:rPr lang="en-US" sz="800" b="1" dirty="0">
                <a:solidFill>
                  <a:srgbClr val="14846F"/>
                </a:solidFill>
                <a:latin typeface="Arial" pitchFamily="34" charset="0"/>
                <a:ea typeface="Arial" pitchFamily="34" charset="-122"/>
                <a:cs typeface="Arial" pitchFamily="34" charset="-120"/>
              </a:rPr>
              <a:t>PROVEN TODAY</a:t>
            </a:r>
            <a:endParaRPr lang="en-US" sz="800" dirty="0"/>
          </a:p>
        </p:txBody>
      </p:sp>
      <p:sp>
        <p:nvSpPr>
          <p:cNvPr id="10" name="Text 7"/>
          <p:cNvSpPr txBox="1"/>
          <p:nvPr/>
        </p:nvSpPr>
        <p:spPr>
          <a:xfrm>
            <a:off x="2542032" y="4626864"/>
            <a:ext cx="1371600" cy="292608"/>
          </a:xfrm>
          <a:prstGeom prst="rect">
            <a:avLst/>
          </a:prstGeom>
          <a:noFill/>
          <a:ln/>
        </p:spPr>
        <p:txBody>
          <a:bodyPr wrap="square" lIns="0" tIns="0" rIns="0" bIns="0" rtlCol="0" anchor="t">
            <a:normAutofit/>
          </a:bodyPr>
          <a:lstStyle/>
          <a:p>
            <a:pPr algn="r" indent="0" marL="0">
              <a:buNone/>
            </a:pPr>
            <a:r>
              <a:rPr lang="en-US" sz="1600" b="1" dirty="0">
                <a:solidFill>
                  <a:srgbClr val="14846F"/>
                </a:solidFill>
                <a:latin typeface="Arial" pitchFamily="34" charset="0"/>
                <a:ea typeface="Arial" pitchFamily="34" charset="-122"/>
                <a:cs typeface="Arial" pitchFamily="34" charset="-120"/>
              </a:rPr>
              <a:t>101 / 101</a:t>
            </a:r>
            <a:endParaRPr lang="en-US" sz="1600" dirty="0"/>
          </a:p>
        </p:txBody>
      </p:sp>
      <p:sp>
        <p:nvSpPr>
          <p:cNvPr id="11" name="Text 8"/>
          <p:cNvSpPr txBox="1"/>
          <p:nvPr/>
        </p:nvSpPr>
        <p:spPr>
          <a:xfrm>
            <a:off x="832104" y="5093208"/>
            <a:ext cx="3054096" cy="713232"/>
          </a:xfrm>
          <a:prstGeom prst="rect">
            <a:avLst/>
          </a:prstGeom>
          <a:noFill/>
          <a:ln/>
        </p:spPr>
        <p:txBody>
          <a:bodyPr wrap="square" lIns="0" tIns="0" rIns="0" bIns="0" rtlCol="0" anchor="t">
            <a:normAutofit/>
          </a:bodyPr>
          <a:lstStyle/>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Golden cases passed</a:t>
            </a:r>
            <a:endParaRPr lang="en-US" sz="1040" dirty="0"/>
          </a:p>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8 / 8 gate-wiring assertions</a:t>
            </a:r>
            <a:endParaRPr lang="en-US" sz="1040" dirty="0"/>
          </a:p>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0 model calls from poisoned CRM</a:t>
            </a:r>
            <a:endParaRPr lang="en-US" sz="1040" dirty="0"/>
          </a:p>
        </p:txBody>
      </p:sp>
      <p:sp>
        <p:nvSpPr>
          <p:cNvPr id="12" name="Shape 9"/>
          <p:cNvSpPr/>
          <p:nvPr/>
        </p:nvSpPr>
        <p:spPr>
          <a:xfrm>
            <a:off x="4325112" y="4471416"/>
            <a:ext cx="3547872" cy="1572768"/>
          </a:xfrm>
          <a:prstGeom prst="roundRect">
            <a:avLst>
              <a:gd name="adj" fmla="val 4651"/>
            </a:avLst>
          </a:prstGeom>
          <a:solidFill>
            <a:srgbClr val="FFFFFF"/>
          </a:solidFill>
          <a:ln w="8890">
            <a:solidFill>
              <a:srgbClr val="DCE3ED"/>
            </a:solidFill>
            <a:prstDash val="solid"/>
          </a:ln>
        </p:spPr>
      </p:sp>
      <p:sp>
        <p:nvSpPr>
          <p:cNvPr id="13" name="Shape 10"/>
          <p:cNvSpPr/>
          <p:nvPr/>
        </p:nvSpPr>
        <p:spPr>
          <a:xfrm>
            <a:off x="4507992" y="4636008"/>
            <a:ext cx="1161288" cy="256032"/>
          </a:xfrm>
          <a:prstGeom prst="roundRect">
            <a:avLst>
              <a:gd name="adj" fmla="val 28571"/>
            </a:avLst>
          </a:prstGeom>
          <a:solidFill>
            <a:srgbClr val="FFF5DE"/>
          </a:solidFill>
          <a:ln w="6350">
            <a:solidFill>
              <a:srgbClr val="FFF5DE"/>
            </a:solidFill>
            <a:prstDash val="solid"/>
          </a:ln>
        </p:spPr>
      </p:sp>
      <p:sp>
        <p:nvSpPr>
          <p:cNvPr id="14" name="Text 11"/>
          <p:cNvSpPr txBox="1"/>
          <p:nvPr/>
        </p:nvSpPr>
        <p:spPr>
          <a:xfrm>
            <a:off x="4599432" y="4645152"/>
            <a:ext cx="978408" cy="237744"/>
          </a:xfrm>
          <a:prstGeom prst="rect">
            <a:avLst/>
          </a:prstGeom>
          <a:noFill/>
          <a:ln/>
        </p:spPr>
        <p:txBody>
          <a:bodyPr wrap="square" lIns="0" tIns="0" rIns="0" bIns="0" rtlCol="0" anchor="ctr">
            <a:normAutofit/>
          </a:bodyPr>
          <a:lstStyle/>
          <a:p>
            <a:pPr algn="ctr" indent="0" marL="0">
              <a:buNone/>
            </a:pPr>
            <a:r>
              <a:rPr lang="en-US" sz="800" b="1" dirty="0">
                <a:solidFill>
                  <a:srgbClr val="A86B00"/>
                </a:solidFill>
                <a:latin typeface="Arial" pitchFamily="34" charset="0"/>
                <a:ea typeface="Arial" pitchFamily="34" charset="-122"/>
                <a:cs typeface="Arial" pitchFamily="34" charset="-120"/>
              </a:rPr>
              <a:t>ASSUMPTIONS</a:t>
            </a:r>
            <a:endParaRPr lang="en-US" sz="800" dirty="0"/>
          </a:p>
        </p:txBody>
      </p:sp>
      <p:sp>
        <p:nvSpPr>
          <p:cNvPr id="15" name="Text 12"/>
          <p:cNvSpPr txBox="1"/>
          <p:nvPr/>
        </p:nvSpPr>
        <p:spPr>
          <a:xfrm>
            <a:off x="6245352" y="4626864"/>
            <a:ext cx="1371600" cy="292608"/>
          </a:xfrm>
          <a:prstGeom prst="rect">
            <a:avLst/>
          </a:prstGeom>
          <a:noFill/>
          <a:ln/>
        </p:spPr>
        <p:txBody>
          <a:bodyPr wrap="square" lIns="0" tIns="0" rIns="0" bIns="0" rtlCol="0" anchor="t">
            <a:normAutofit/>
          </a:bodyPr>
          <a:lstStyle/>
          <a:p>
            <a:pPr algn="r" indent="0" marL="0">
              <a:buNone/>
            </a:pPr>
            <a:r>
              <a:rPr lang="en-US" sz="1600" b="1" dirty="0">
                <a:solidFill>
                  <a:srgbClr val="A86B00"/>
                </a:solidFill>
                <a:latin typeface="Arial" pitchFamily="34" charset="0"/>
                <a:ea typeface="Arial" pitchFamily="34" charset="-122"/>
                <a:cs typeface="Arial" pitchFamily="34" charset="-120"/>
              </a:rPr>
              <a:t>V1</a:t>
            </a:r>
            <a:endParaRPr lang="en-US" sz="1600" dirty="0"/>
          </a:p>
        </p:txBody>
      </p:sp>
      <p:sp>
        <p:nvSpPr>
          <p:cNvPr id="16" name="Text 13"/>
          <p:cNvSpPr txBox="1"/>
          <p:nvPr/>
        </p:nvSpPr>
        <p:spPr>
          <a:xfrm>
            <a:off x="4535424" y="5093208"/>
            <a:ext cx="3054096" cy="713232"/>
          </a:xfrm>
          <a:prstGeom prst="rect">
            <a:avLst/>
          </a:prstGeom>
          <a:noFill/>
          <a:ln/>
        </p:spPr>
        <p:txBody>
          <a:bodyPr wrap="square" lIns="0" tIns="0" rIns="0" bIns="0" rtlCol="0" anchor="t">
            <a:normAutofit/>
          </a:bodyPr>
          <a:lstStyle/>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Simulated CRM + vendor estimates</a:t>
            </a:r>
            <a:endParaRPr lang="en-US" sz="1040" dirty="0"/>
          </a:p>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Heuristic weights and fit rules</a:t>
            </a:r>
            <a:endParaRPr lang="en-US" sz="1040" dirty="0"/>
          </a:p>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Public-data coverage is incomplete</a:t>
            </a:r>
            <a:endParaRPr lang="en-US" sz="1040" dirty="0"/>
          </a:p>
        </p:txBody>
      </p:sp>
      <p:sp>
        <p:nvSpPr>
          <p:cNvPr id="17" name="Shape 14"/>
          <p:cNvSpPr/>
          <p:nvPr/>
        </p:nvSpPr>
        <p:spPr>
          <a:xfrm>
            <a:off x="8028432" y="4471416"/>
            <a:ext cx="3547872" cy="1572768"/>
          </a:xfrm>
          <a:prstGeom prst="roundRect">
            <a:avLst>
              <a:gd name="adj" fmla="val 4651"/>
            </a:avLst>
          </a:prstGeom>
          <a:solidFill>
            <a:srgbClr val="FFFFFF"/>
          </a:solidFill>
          <a:ln w="8890">
            <a:solidFill>
              <a:srgbClr val="DCE3ED"/>
            </a:solidFill>
            <a:prstDash val="solid"/>
          </a:ln>
        </p:spPr>
      </p:sp>
      <p:sp>
        <p:nvSpPr>
          <p:cNvPr id="18" name="Shape 15"/>
          <p:cNvSpPr/>
          <p:nvPr/>
        </p:nvSpPr>
        <p:spPr>
          <a:xfrm>
            <a:off x="8211312" y="4636008"/>
            <a:ext cx="1161288" cy="256032"/>
          </a:xfrm>
          <a:prstGeom prst="roundRect">
            <a:avLst>
              <a:gd name="adj" fmla="val 28571"/>
            </a:avLst>
          </a:prstGeom>
          <a:solidFill>
            <a:srgbClr val="EEF1FF"/>
          </a:solidFill>
          <a:ln w="6350">
            <a:solidFill>
              <a:srgbClr val="EEF1FF"/>
            </a:solidFill>
            <a:prstDash val="solid"/>
          </a:ln>
        </p:spPr>
      </p:sp>
      <p:sp>
        <p:nvSpPr>
          <p:cNvPr id="19" name="Text 16"/>
          <p:cNvSpPr txBox="1"/>
          <p:nvPr/>
        </p:nvSpPr>
        <p:spPr>
          <a:xfrm>
            <a:off x="8302752" y="4645152"/>
            <a:ext cx="978408" cy="237744"/>
          </a:xfrm>
          <a:prstGeom prst="rect">
            <a:avLst/>
          </a:prstGeom>
          <a:noFill/>
          <a:ln/>
        </p:spPr>
        <p:txBody>
          <a:bodyPr wrap="square" lIns="0" tIns="0" rIns="0" bIns="0" rtlCol="0" anchor="ctr">
            <a:normAutofit/>
          </a:bodyPr>
          <a:lstStyle/>
          <a:p>
            <a:pPr algn="ctr" indent="0" marL="0">
              <a:buNone/>
            </a:pPr>
            <a:r>
              <a:rPr lang="en-US" sz="800" b="1" dirty="0">
                <a:solidFill>
                  <a:srgbClr val="3157F6"/>
                </a:solidFill>
                <a:latin typeface="Arial" pitchFamily="34" charset="0"/>
                <a:ea typeface="Arial" pitchFamily="34" charset="-122"/>
                <a:cs typeface="Arial" pitchFamily="34" charset="-120"/>
              </a:rPr>
              <a:t>NEXT PILOT</a:t>
            </a:r>
            <a:endParaRPr lang="en-US" sz="800" dirty="0"/>
          </a:p>
        </p:txBody>
      </p:sp>
      <p:sp>
        <p:nvSpPr>
          <p:cNvPr id="20" name="Text 17"/>
          <p:cNvSpPr txBox="1"/>
          <p:nvPr/>
        </p:nvSpPr>
        <p:spPr>
          <a:xfrm>
            <a:off x="9948672" y="4626864"/>
            <a:ext cx="1371600" cy="292608"/>
          </a:xfrm>
          <a:prstGeom prst="rect">
            <a:avLst/>
          </a:prstGeom>
          <a:noFill/>
          <a:ln/>
        </p:spPr>
        <p:txBody>
          <a:bodyPr wrap="square" lIns="0" tIns="0" rIns="0" bIns="0" rtlCol="0" anchor="t">
            <a:normAutofit/>
          </a:bodyPr>
          <a:lstStyle/>
          <a:p>
            <a:pPr algn="r" indent="0" marL="0">
              <a:buNone/>
            </a:pPr>
            <a:r>
              <a:rPr lang="en-US" sz="1600" b="1" dirty="0">
                <a:solidFill>
                  <a:srgbClr val="3157F6"/>
                </a:solidFill>
                <a:latin typeface="Arial" pitchFamily="34" charset="0"/>
                <a:ea typeface="Arial" pitchFamily="34" charset="-122"/>
                <a:cs typeface="Arial" pitchFamily="34" charset="-120"/>
              </a:rPr>
              <a:t>REAL DATA</a:t>
            </a:r>
            <a:endParaRPr lang="en-US" sz="1600" dirty="0"/>
          </a:p>
        </p:txBody>
      </p:sp>
      <p:sp>
        <p:nvSpPr>
          <p:cNvPr id="21" name="Text 18"/>
          <p:cNvSpPr txBox="1"/>
          <p:nvPr/>
        </p:nvSpPr>
        <p:spPr>
          <a:xfrm>
            <a:off x="8238744" y="5093208"/>
            <a:ext cx="3054096" cy="713232"/>
          </a:xfrm>
          <a:prstGeom prst="rect">
            <a:avLst/>
          </a:prstGeom>
          <a:noFill/>
          <a:ln/>
        </p:spPr>
        <p:txBody>
          <a:bodyPr wrap="square" lIns="0" tIns="0" rIns="0" bIns="0" rtlCol="0" anchor="t">
            <a:normAutofit/>
          </a:bodyPr>
          <a:lstStyle/>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Connect Salesforce</a:t>
            </a:r>
            <a:endParaRPr lang="en-US" sz="1040" dirty="0"/>
          </a:p>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Calibrate weights from outcomes</a:t>
            </a:r>
            <a:endParaRPr lang="en-US" sz="1040" dirty="0"/>
          </a:p>
          <a:p>
            <a:pPr algn="l" indent="0" marL="0">
              <a:lnSpc>
                <a:spcPct val="95000"/>
              </a:lnSpc>
              <a:buNone/>
            </a:pPr>
            <a:r>
              <a:rPr lang="en-US" sz="1040" dirty="0">
                <a:solidFill>
                  <a:srgbClr val="334155"/>
                </a:solidFill>
                <a:latin typeface="Arial" pitchFamily="34" charset="0"/>
                <a:ea typeface="Arial" pitchFamily="34" charset="-122"/>
                <a:cs typeface="Arial" pitchFamily="34" charset="-120"/>
              </a:rPr>
              <a:t>Measure prep time, usefulness, precision@5</a:t>
            </a:r>
            <a:endParaRPr lang="en-US" sz="1040" dirty="0"/>
          </a:p>
        </p:txBody>
      </p:sp>
      <p:sp>
        <p:nvSpPr>
          <p:cNvPr id="22" name="Shape 19"/>
          <p:cNvSpPr/>
          <p:nvPr/>
        </p:nvSpPr>
        <p:spPr>
          <a:xfrm>
            <a:off x="621792" y="6181344"/>
            <a:ext cx="10954512" cy="283464"/>
          </a:xfrm>
          <a:prstGeom prst="roundRect">
            <a:avLst>
              <a:gd name="adj" fmla="val 16129"/>
            </a:avLst>
          </a:prstGeom>
          <a:solidFill>
            <a:srgbClr val="101625"/>
          </a:solidFill>
          <a:ln w="12700">
            <a:solidFill>
              <a:srgbClr val="101625"/>
            </a:solidFill>
            <a:prstDash val="solid"/>
          </a:ln>
        </p:spPr>
      </p:sp>
      <p:sp>
        <p:nvSpPr>
          <p:cNvPr id="23" name="Text 20"/>
          <p:cNvSpPr txBox="1"/>
          <p:nvPr/>
        </p:nvSpPr>
        <p:spPr>
          <a:xfrm>
            <a:off x="822960" y="6199632"/>
            <a:ext cx="1078992" cy="192024"/>
          </a:xfrm>
          <a:prstGeom prst="rect">
            <a:avLst/>
          </a:prstGeom>
          <a:noFill/>
          <a:ln/>
        </p:spPr>
        <p:txBody>
          <a:bodyPr wrap="square" lIns="0" tIns="0" rIns="0" bIns="0" rtlCol="0" anchor="t">
            <a:normAutofit/>
          </a:bodyPr>
          <a:lstStyle/>
          <a:p>
            <a:pPr algn="l" indent="0" marL="0">
              <a:buNone/>
            </a:pPr>
            <a:r>
              <a:rPr lang="en-US" sz="820" b="1" dirty="0">
                <a:solidFill>
                  <a:srgbClr val="9FAEFF"/>
                </a:solidFill>
                <a:latin typeface="Arial" pitchFamily="34" charset="0"/>
                <a:ea typeface="Arial" pitchFamily="34" charset="-122"/>
                <a:cs typeface="Arial" pitchFamily="34" charset="-120"/>
              </a:rPr>
              <a:t>PROTOTYPE ACCESS</a:t>
            </a:r>
            <a:endParaRPr lang="en-US" sz="820" dirty="0"/>
          </a:p>
        </p:txBody>
      </p:sp>
      <p:sp>
        <p:nvSpPr>
          <p:cNvPr id="24" name="Text 21"/>
          <p:cNvSpPr txBox="1"/>
          <p:nvPr/>
        </p:nvSpPr>
        <p:spPr>
          <a:xfrm>
            <a:off x="2011680" y="6190488"/>
            <a:ext cx="3657600" cy="201168"/>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rial" pitchFamily="34" charset="0"/>
                <a:ea typeface="Arial" pitchFamily="34" charset="-122"/>
                <a:cs typeface="Arial" pitchFamily="34" charset="-120"/>
              </a:rPr>
              <a:t>npm install  →  npm run dev  →  localhost:5173</a:t>
            </a:r>
            <a:endParaRPr lang="en-US" sz="950" dirty="0"/>
          </a:p>
        </p:txBody>
      </p:sp>
      <p:sp>
        <p:nvSpPr>
          <p:cNvPr id="25" name="Text 22"/>
          <p:cNvSpPr txBox="1"/>
          <p:nvPr/>
        </p:nvSpPr>
        <p:spPr>
          <a:xfrm>
            <a:off x="7040880" y="6199632"/>
            <a:ext cx="4251960" cy="192024"/>
          </a:xfrm>
          <a:prstGeom prst="rect">
            <a:avLst/>
          </a:prstGeom>
          <a:noFill/>
          <a:ln/>
        </p:spPr>
        <p:txBody>
          <a:bodyPr wrap="square" lIns="0" tIns="0" rIns="0" bIns="0" rtlCol="0" anchor="t">
            <a:normAutofit/>
          </a:bodyPr>
          <a:lstStyle/>
          <a:p>
            <a:pPr algn="r" indent="0" marL="0">
              <a:buNone/>
            </a:pPr>
            <a:r>
              <a:rPr lang="en-US" sz="840" dirty="0">
                <a:solidFill>
                  <a:srgbClr val="D7DDED"/>
                </a:solidFill>
                <a:latin typeface="Arial" pitchFamily="34" charset="0"/>
                <a:ea typeface="Arial" pitchFamily="34" charset="-122"/>
                <a:cs typeface="Arial" pitchFamily="34" charset="-120"/>
              </a:rPr>
              <a:t>No model keys required · deterministic fallback included</a:t>
            </a:r>
            <a:endParaRPr lang="en-US" sz="840" dirty="0"/>
          </a:p>
        </p:txBody>
      </p:sp>
      <p:sp>
        <p:nvSpPr>
          <p:cNvPr id="26" name="Shape 23"/>
          <p:cNvSpPr/>
          <p:nvPr/>
        </p:nvSpPr>
        <p:spPr>
          <a:xfrm>
            <a:off x="621792" y="6556248"/>
            <a:ext cx="10945368" cy="0"/>
          </a:xfrm>
          <a:prstGeom prst="line">
            <a:avLst/>
          </a:prstGeom>
          <a:noFill/>
          <a:ln w="7620">
            <a:solidFill>
              <a:srgbClr val="DCE3ED"/>
            </a:solidFill>
            <a:prstDash val="solid"/>
          </a:ln>
        </p:spPr>
      </p:sp>
      <p:sp>
        <p:nvSpPr>
          <p:cNvPr id="27" name="Text 24"/>
          <p:cNvSpPr txBox="1"/>
          <p:nvPr/>
        </p:nvSpPr>
        <p:spPr>
          <a:xfrm>
            <a:off x="621792" y="6592824"/>
            <a:ext cx="9966960" cy="146304"/>
          </a:xfrm>
          <a:prstGeom prst="rect">
            <a:avLst/>
          </a:prstGeom>
          <a:noFill/>
          <a:ln/>
        </p:spPr>
        <p:txBody>
          <a:bodyPr wrap="square" lIns="0" tIns="0" rIns="0" bIns="0" rtlCol="0" anchor="t">
            <a:normAutofit/>
          </a:bodyPr>
          <a:lstStyle/>
          <a:p>
            <a:pPr algn="l" indent="0" marL="0">
              <a:buNone/>
            </a:pPr>
            <a:r>
              <a:rPr lang="en-US" sz="780" dirty="0">
                <a:solidFill>
                  <a:srgbClr val="94A3B8"/>
                </a:solidFill>
                <a:latin typeface="Arial" pitchFamily="34" charset="0"/>
                <a:ea typeface="Arial" pitchFamily="34" charset="-122"/>
                <a:cs typeface="Arial" pitchFamily="34" charset="-120"/>
              </a:rPr>
              <a:t>Test results validate pipeline behavior, not 100% AI accuracy · human review remains required</a:t>
            </a:r>
            <a:endParaRPr lang="en-US" sz="780" dirty="0"/>
          </a:p>
        </p:txBody>
      </p:sp>
      <p:sp>
        <p:nvSpPr>
          <p:cNvPr id="28" name="Text 25"/>
          <p:cNvSpPr txBox="1"/>
          <p:nvPr/>
        </p:nvSpPr>
        <p:spPr>
          <a:xfrm>
            <a:off x="11109960" y="6574536"/>
            <a:ext cx="457200" cy="164592"/>
          </a:xfrm>
          <a:prstGeom prst="rect">
            <a:avLst/>
          </a:prstGeom>
          <a:noFill/>
          <a:ln/>
        </p:spPr>
        <p:txBody>
          <a:bodyPr wrap="square" lIns="0" tIns="0" rIns="0" bIns="0" rtlCol="0" anchor="t">
            <a:normAutofit/>
          </a:bodyPr>
          <a:lstStyle/>
          <a:p>
            <a:pPr algn="r" indent="0" marL="0">
              <a:buNone/>
            </a:pPr>
            <a:r>
              <a:rPr lang="en-US" sz="850" b="1" dirty="0">
                <a:solidFill>
                  <a:srgbClr val="94A3B8"/>
                </a:solidFill>
                <a:latin typeface="Arial" pitchFamily="34" charset="0"/>
                <a:ea typeface="Arial" pitchFamily="34" charset="-122"/>
                <a:cs typeface="Arial" pitchFamily="34" charset="-120"/>
              </a:rPr>
              <a:t>05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Case-study prototype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Tempus Sales Copilot: From territory data to the next best conversation</dc:title>
  <dc:subject>Five-slide Tempus Sales Copilot case study</dc:subject>
  <dc:creator>Tempus Sales Copilot case-study team</dc:creator>
  <cp:lastModifiedBy>Tempus Sales Copilot case-study team</cp:lastModifiedBy>
  <cp:revision>1</cp:revision>
  <dcterms:created xsi:type="dcterms:W3CDTF">2026-08-24T19:47:46Z</dcterms:created>
  <dcterms:modified xsi:type="dcterms:W3CDTF">2026-08-24T19:47:46Z</dcterms:modified>
</cp:coreProperties>
</file>